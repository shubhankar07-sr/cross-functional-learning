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58200" y="0"/>
            <a:ext cx="3730752" cy="6858000"/>
          </a:xfrm>
          <a:prstGeom prst="rect">
            <a:avLst/>
          </a:prstGeom>
          <a:solidFill>
            <a:srgbClr val="1D2B43"/>
          </a:solidFill>
          <a:ln>
            <a:solidFill>
              <a:srgbClr val="1D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464040" y="1325880"/>
            <a:ext cx="0" cy="4114800"/>
          </a:xfrm>
          <a:prstGeom prst="line">
            <a:avLst/>
          </a:prstGeom>
          <a:ln w="38100">
            <a:solidFill>
              <a:srgbClr val="5D8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9253728" y="1417320"/>
            <a:ext cx="420624" cy="420624"/>
          </a:xfrm>
          <a:prstGeom prst="ellipse">
            <a:avLst/>
          </a:prstGeom>
          <a:solidFill>
            <a:srgbClr val="2D66BE"/>
          </a:solidFill>
          <a:ln>
            <a:solidFill>
              <a:srgbClr val="2D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53728" y="2331720"/>
            <a:ext cx="420624" cy="420624"/>
          </a:xfrm>
          <a:prstGeom prst="ellipse">
            <a:avLst/>
          </a:prstGeom>
          <a:solidFill>
            <a:srgbClr val="2D66BE"/>
          </a:solidFill>
          <a:ln>
            <a:solidFill>
              <a:srgbClr val="2D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53728" y="3246120"/>
            <a:ext cx="420624" cy="420624"/>
          </a:xfrm>
          <a:prstGeom prst="ellipse">
            <a:avLst/>
          </a:prstGeom>
          <a:solidFill>
            <a:srgbClr val="2D66BE"/>
          </a:solidFill>
          <a:ln>
            <a:solidFill>
              <a:srgbClr val="2D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53728" y="4160520"/>
            <a:ext cx="420624" cy="420624"/>
          </a:xfrm>
          <a:prstGeom prst="ellipse">
            <a:avLst/>
          </a:prstGeom>
          <a:solidFill>
            <a:srgbClr val="2D66BE"/>
          </a:solidFill>
          <a:ln>
            <a:solidFill>
              <a:srgbClr val="2D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53728" y="5074920"/>
            <a:ext cx="420624" cy="420624"/>
          </a:xfrm>
          <a:prstGeom prst="ellipse">
            <a:avLst/>
          </a:prstGeom>
          <a:solidFill>
            <a:srgbClr val="2D66BE"/>
          </a:solidFill>
          <a:ln>
            <a:solidFill>
              <a:srgbClr val="2D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9464040" y="1600200"/>
            <a:ext cx="1005840" cy="731520"/>
          </a:xfrm>
          <a:prstGeom prst="line">
            <a:avLst/>
          </a:prstGeom>
          <a:ln w="38100">
            <a:solidFill>
              <a:srgbClr val="F27E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268712" y="1399032"/>
            <a:ext cx="420624" cy="420624"/>
          </a:xfrm>
          <a:prstGeom prst="ellipse">
            <a:avLst/>
          </a:prstGeom>
          <a:solidFill>
            <a:srgbClr val="F27E36"/>
          </a:solidFill>
          <a:ln>
            <a:solidFill>
              <a:srgbClr val="F2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464040" y="3246120"/>
            <a:ext cx="1005840" cy="640080"/>
          </a:xfrm>
          <a:prstGeom prst="line">
            <a:avLst/>
          </a:prstGeom>
          <a:ln w="38100">
            <a:solidFill>
              <a:srgbClr val="F27E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268712" y="3675887"/>
            <a:ext cx="420624" cy="420624"/>
          </a:xfrm>
          <a:prstGeom prst="ellipse">
            <a:avLst/>
          </a:prstGeom>
          <a:solidFill>
            <a:srgbClr val="F27E36"/>
          </a:solidFill>
          <a:ln>
            <a:solidFill>
              <a:srgbClr val="F2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464040" y="4160520"/>
            <a:ext cx="1005840" cy="822960"/>
          </a:xfrm>
          <a:prstGeom prst="line">
            <a:avLst/>
          </a:prstGeom>
          <a:ln w="38100">
            <a:solidFill>
              <a:srgbClr val="189A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0268712" y="4773168"/>
            <a:ext cx="420624" cy="420624"/>
          </a:xfrm>
          <a:prstGeom prst="ellipse">
            <a:avLst/>
          </a:prstGeom>
          <a:solidFill>
            <a:srgbClr val="189A8E"/>
          </a:solidFill>
          <a:ln>
            <a:solidFill>
              <a:srgbClr val="189A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731520"/>
            <a:ext cx="7132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6DCD3"/>
                </a:solidFill>
                <a:latin typeface="Aptos"/>
              </a:rPr>
              <a:t>CROSS-FUNCTIONAL LEARNING  /  MODULE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417320"/>
            <a:ext cx="6949440" cy="2423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ptos"/>
              </a:rPr>
              <a:t>MERGE
vs
REBASE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51960"/>
            <a:ext cx="67665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DAE4F2"/>
                </a:solidFill>
                <a:latin typeface="Aptos"/>
              </a:rPr>
              <a:t>Understanding two ways to bring Git changes together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257800"/>
            <a:ext cx="2240280" cy="73152"/>
          </a:xfrm>
          <a:prstGeom prst="rect">
            <a:avLst/>
          </a:prstGeom>
          <a:solidFill>
            <a:srgbClr val="F27E36"/>
          </a:solidFill>
          <a:ln>
            <a:solidFill>
              <a:srgbClr val="F2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6309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ED3"/>
                </a:solidFill>
                <a:latin typeface="Aptos"/>
              </a:rPr>
              <a:t>A practical guide for interns and beginners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172200"/>
            <a:ext cx="6858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DCD3"/>
                </a:solidFill>
                <a:latin typeface="Aptos"/>
              </a:rPr>
              <a:t>GIT BASICS  •  BRANCHING  •  TEAM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315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89A8E"/>
                </a:solidFill>
                <a:latin typeface="Aptos"/>
              </a:rPr>
              <a:t>01 /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33E"/>
                </a:solidFill>
                <a:latin typeface="Aptos"/>
              </a:rPr>
              <a:t>Why do we need branches?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Aptos"/>
              </a:rPr>
              <a:t>Branches let us work on a change without disturbing the stable version of the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333756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D66BE"/>
                </a:solidFill>
                <a:latin typeface="Aptos"/>
              </a:rPr>
              <a:t>MAIN BRANCH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2651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4233E"/>
                </a:solidFill>
                <a:latin typeface="Aptos"/>
              </a:rPr>
              <a:t>The shared, stable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6517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Aptos"/>
              </a:rPr>
              <a:t>Example: the login page is already working for users.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057400"/>
            <a:ext cx="333756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331720"/>
            <a:ext cx="2651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7E36"/>
                </a:solidFill>
                <a:latin typeface="Aptos"/>
              </a:rPr>
              <a:t>FEATURE BRANCH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69748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4233E"/>
                </a:solidFill>
                <a:latin typeface="Aptos"/>
              </a:rPr>
              <a:t>A safe place to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246120"/>
            <a:ext cx="26517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Aptos"/>
              </a:rPr>
              <a:t>Example: add a password visibility button and test it separately.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057400"/>
            <a:ext cx="3291840" cy="3200400"/>
          </a:xfrm>
          <a:prstGeom prst="roundRect">
            <a:avLst>
              <a:gd name="adj" fmla="val 12000"/>
            </a:avLst>
          </a:prstGeom>
          <a:solidFill>
            <a:srgbClr val="14233E"/>
          </a:solidFill>
          <a:ln>
            <a:solidFill>
              <a:srgbClr val="14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377440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6DCD3"/>
                </a:solidFill>
                <a:latin typeface="Aptos"/>
              </a:rPr>
              <a:t>THE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788920"/>
            <a:ext cx="25146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How do we bring the work back?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977639"/>
            <a:ext cx="24231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DAE4F2"/>
                </a:solidFill>
                <a:latin typeface="Aptos"/>
              </a:rPr>
              <a:t>That is where merge and rebase come in.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77639" y="3657600"/>
            <a:ext cx="457201" cy="0"/>
          </a:xfrm>
          <a:prstGeom prst="line">
            <a:avLst/>
          </a:prstGeom>
          <a:ln w="25400">
            <a:solidFill>
              <a:srgbClr val="189A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0" y="3657600"/>
            <a:ext cx="457200" cy="0"/>
          </a:xfrm>
          <a:prstGeom prst="line">
            <a:avLst/>
          </a:prstGeom>
          <a:ln w="25400">
            <a:solidFill>
              <a:srgbClr val="189A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4748B"/>
                </a:solidFill>
                <a:latin typeface="Aptos"/>
              </a:rPr>
              <a:t>MODULE 2  /  GIT &amp; GITLAB FUNDAMENTALS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315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89A8E"/>
                </a:solidFill>
                <a:latin typeface="Aptos"/>
              </a:rPr>
              <a:t>02 / OPTION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33E"/>
                </a:solidFill>
                <a:latin typeface="Aptos"/>
              </a:rPr>
              <a:t>Merge: combine histories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Aptos"/>
              </a:rPr>
              <a:t>Merge brings the work from one branch into another and records how the histories join.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943600" cy="388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425092" y="2591638"/>
            <a:ext cx="625449" cy="0"/>
          </a:xfrm>
          <a:prstGeom prst="line">
            <a:avLst/>
          </a:prstGeom>
          <a:ln w="31750">
            <a:solidFill>
              <a:srgbClr val="2D6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24074" y="2591638"/>
            <a:ext cx="625449" cy="0"/>
          </a:xfrm>
          <a:prstGeom prst="line">
            <a:avLst/>
          </a:prstGeom>
          <a:ln w="31750">
            <a:solidFill>
              <a:srgbClr val="2D6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1560" y="2404872"/>
            <a:ext cx="373532" cy="373532"/>
          </a:xfrm>
          <a:prstGeom prst="ellipse">
            <a:avLst/>
          </a:prstGeom>
          <a:solidFill>
            <a:srgbClr val="2D66BE"/>
          </a:solidFill>
          <a:ln>
            <a:solidFill>
              <a:srgbClr val="2D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78024"/>
            <a:ext cx="3735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0" name="Oval 9"/>
          <p:cNvSpPr/>
          <p:nvPr/>
        </p:nvSpPr>
        <p:spPr>
          <a:xfrm>
            <a:off x="2050541" y="2404872"/>
            <a:ext cx="373532" cy="373532"/>
          </a:xfrm>
          <a:prstGeom prst="ellipse">
            <a:avLst/>
          </a:prstGeom>
          <a:solidFill>
            <a:srgbClr val="2D66BE"/>
          </a:solidFill>
          <a:ln>
            <a:solidFill>
              <a:srgbClr val="2D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0541" y="2478024"/>
            <a:ext cx="3735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7308" y="2778404"/>
            <a:ext cx="0" cy="812216"/>
          </a:xfrm>
          <a:prstGeom prst="line">
            <a:avLst/>
          </a:prstGeom>
          <a:ln w="31750">
            <a:solidFill>
              <a:srgbClr val="F27E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37308" y="3590620"/>
            <a:ext cx="812215" cy="0"/>
          </a:xfrm>
          <a:prstGeom prst="line">
            <a:avLst/>
          </a:prstGeom>
          <a:ln w="31750">
            <a:solidFill>
              <a:srgbClr val="F27E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049523" y="3403854"/>
            <a:ext cx="373532" cy="373532"/>
          </a:xfrm>
          <a:prstGeom prst="ellipse">
            <a:avLst/>
          </a:prstGeom>
          <a:solidFill>
            <a:srgbClr val="F27E36"/>
          </a:solidFill>
          <a:ln>
            <a:solidFill>
              <a:srgbClr val="F2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9523" y="3477006"/>
            <a:ext cx="3735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23056" y="3590620"/>
            <a:ext cx="625450" cy="0"/>
          </a:xfrm>
          <a:prstGeom prst="line">
            <a:avLst/>
          </a:prstGeom>
          <a:ln w="31750">
            <a:solidFill>
              <a:srgbClr val="F27E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048506" y="3403854"/>
            <a:ext cx="373532" cy="373532"/>
          </a:xfrm>
          <a:prstGeom prst="ellipse">
            <a:avLst/>
          </a:prstGeom>
          <a:solidFill>
            <a:srgbClr val="F27E36"/>
          </a:solidFill>
          <a:ln>
            <a:solidFill>
              <a:srgbClr val="F2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48506" y="3477006"/>
            <a:ext cx="3735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23056" y="2591638"/>
            <a:ext cx="625450" cy="0"/>
          </a:xfrm>
          <a:prstGeom prst="line">
            <a:avLst/>
          </a:prstGeom>
          <a:ln w="31750">
            <a:solidFill>
              <a:srgbClr val="2D6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049523" y="2404872"/>
            <a:ext cx="373532" cy="373532"/>
          </a:xfrm>
          <a:prstGeom prst="ellipse">
            <a:avLst/>
          </a:prstGeom>
          <a:solidFill>
            <a:srgbClr val="2D66BE"/>
          </a:solidFill>
          <a:ln>
            <a:solidFill>
              <a:srgbClr val="2D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9523" y="2478024"/>
            <a:ext cx="3735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22038" y="2591638"/>
            <a:ext cx="625450" cy="0"/>
          </a:xfrm>
          <a:prstGeom prst="line">
            <a:avLst/>
          </a:prstGeom>
          <a:ln w="31750">
            <a:solidFill>
              <a:srgbClr val="2D6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422038" y="2591638"/>
            <a:ext cx="625450" cy="998982"/>
          </a:xfrm>
          <a:prstGeom prst="line">
            <a:avLst/>
          </a:prstGeom>
          <a:ln w="31750">
            <a:solidFill>
              <a:srgbClr val="F27E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047488" y="2404872"/>
            <a:ext cx="373532" cy="373532"/>
          </a:xfrm>
          <a:prstGeom prst="ellipse">
            <a:avLst/>
          </a:prstGeom>
          <a:solidFill>
            <a:srgbClr val="189A8E"/>
          </a:solidFill>
          <a:ln>
            <a:solidFill>
              <a:srgbClr val="189A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7488" y="2478024"/>
            <a:ext cx="3735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8998" y="2361438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D66BE"/>
                </a:solidFill>
                <a:latin typeface="Aptos"/>
              </a:rPr>
              <a:t>main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4468" y="3794760"/>
            <a:ext cx="1097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27E36"/>
                </a:solidFill>
                <a:latin typeface="Aptos"/>
              </a:rPr>
              <a:t>feature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185666"/>
            <a:ext cx="5760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ptos"/>
              </a:rPr>
              <a:t>Merge commit keeps both histories connected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1965960"/>
            <a:ext cx="4572000" cy="3886200"/>
          </a:xfrm>
          <a:prstGeom prst="roundRect">
            <a:avLst>
              <a:gd name="adj" fmla="val 12000"/>
            </a:avLst>
          </a:prstGeom>
          <a:solidFill>
            <a:srgbClr val="DEEBFC"/>
          </a:solidFill>
          <a:ln>
            <a:solidFill>
              <a:srgbClr val="DEE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2286000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D66BE"/>
                </a:solidFill>
                <a:latin typeface="Aptos"/>
              </a:rPr>
              <a:t>WHAT IT DOES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697480"/>
            <a:ext cx="3749039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4233E"/>
                </a:solidFill>
                <a:latin typeface="Aptos"/>
              </a:rPr>
              <a:t>Keeps the original branch story visible.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566160"/>
            <a:ext cx="3749039" cy="1645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3042"/>
                </a:solidFill>
                <a:latin typeface="Aptos"/>
              </a:defRPr>
            </a:pPr>
            <a:r>
              <a:t>•  Useful when a team wants a clear record of integration.</a:t>
            </a:r>
          </a:p>
          <a:p>
            <a:pPr>
              <a:spcAft>
                <a:spcPts val="1000"/>
              </a:spcAft>
              <a:defRPr sz="1400">
                <a:solidFill>
                  <a:srgbClr val="233042"/>
                </a:solidFill>
                <a:latin typeface="Aptos"/>
              </a:defRPr>
            </a:pPr>
            <a:r>
              <a:t>•  Often creates a merge commit when branches have diverged.</a:t>
            </a:r>
          </a:p>
          <a:p>
            <a:pPr>
              <a:spcAft>
                <a:spcPts val="1000"/>
              </a:spcAft>
              <a:defRPr sz="1400">
                <a:solidFill>
                  <a:srgbClr val="233042"/>
                </a:solidFill>
                <a:latin typeface="Aptos"/>
              </a:defRPr>
            </a:pPr>
            <a:r>
              <a:t>•  Does not rewrite the existing commits.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4748B"/>
                </a:solidFill>
                <a:latin typeface="Aptos"/>
              </a:rPr>
              <a:t>MODULE 2  /  GIT &amp; GITLAB FUNDAMENTALS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315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89A8E"/>
                </a:solidFill>
                <a:latin typeface="Aptos"/>
              </a:rPr>
              <a:t>03 / OPTION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33E"/>
                </a:solidFill>
                <a:latin typeface="Aptos"/>
              </a:rPr>
              <a:t>Rebase: replay commits on a new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Aptos"/>
              </a:rPr>
              <a:t>Rebase moves your feature work so it starts from the latest commit on the target branch.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943600" cy="388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425092" y="2591638"/>
            <a:ext cx="625449" cy="0"/>
          </a:xfrm>
          <a:prstGeom prst="line">
            <a:avLst/>
          </a:prstGeom>
          <a:ln w="31750">
            <a:solidFill>
              <a:srgbClr val="2D6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24074" y="2591638"/>
            <a:ext cx="625449" cy="0"/>
          </a:xfrm>
          <a:prstGeom prst="line">
            <a:avLst/>
          </a:prstGeom>
          <a:ln w="31750">
            <a:solidFill>
              <a:srgbClr val="2D6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1560" y="2404872"/>
            <a:ext cx="373532" cy="373532"/>
          </a:xfrm>
          <a:prstGeom prst="ellipse">
            <a:avLst/>
          </a:prstGeom>
          <a:solidFill>
            <a:srgbClr val="2D66BE"/>
          </a:solidFill>
          <a:ln>
            <a:solidFill>
              <a:srgbClr val="2D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78024"/>
            <a:ext cx="3735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0" name="Oval 9"/>
          <p:cNvSpPr/>
          <p:nvPr/>
        </p:nvSpPr>
        <p:spPr>
          <a:xfrm>
            <a:off x="2050541" y="2404872"/>
            <a:ext cx="373532" cy="373532"/>
          </a:xfrm>
          <a:prstGeom prst="ellipse">
            <a:avLst/>
          </a:prstGeom>
          <a:solidFill>
            <a:srgbClr val="2D66BE"/>
          </a:solidFill>
          <a:ln>
            <a:solidFill>
              <a:srgbClr val="2D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0541" y="2478024"/>
            <a:ext cx="3735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7308" y="2778404"/>
            <a:ext cx="0" cy="812216"/>
          </a:xfrm>
          <a:prstGeom prst="line">
            <a:avLst/>
          </a:prstGeom>
          <a:ln w="31750">
            <a:solidFill>
              <a:srgbClr val="F27E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37308" y="3590620"/>
            <a:ext cx="812215" cy="0"/>
          </a:xfrm>
          <a:prstGeom prst="line">
            <a:avLst/>
          </a:prstGeom>
          <a:ln w="31750">
            <a:solidFill>
              <a:srgbClr val="F27E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049523" y="3403854"/>
            <a:ext cx="373532" cy="373532"/>
          </a:xfrm>
          <a:prstGeom prst="ellipse">
            <a:avLst/>
          </a:prstGeom>
          <a:solidFill>
            <a:srgbClr val="F27E36"/>
          </a:solidFill>
          <a:ln>
            <a:solidFill>
              <a:srgbClr val="F2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9523" y="3477006"/>
            <a:ext cx="3735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23056" y="3590620"/>
            <a:ext cx="625450" cy="0"/>
          </a:xfrm>
          <a:prstGeom prst="line">
            <a:avLst/>
          </a:prstGeom>
          <a:ln w="31750">
            <a:solidFill>
              <a:srgbClr val="F27E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048506" y="3403854"/>
            <a:ext cx="373532" cy="373532"/>
          </a:xfrm>
          <a:prstGeom prst="ellipse">
            <a:avLst/>
          </a:prstGeom>
          <a:solidFill>
            <a:srgbClr val="F27E36"/>
          </a:solidFill>
          <a:ln>
            <a:solidFill>
              <a:srgbClr val="F2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48506" y="3477006"/>
            <a:ext cx="3735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23056" y="2591638"/>
            <a:ext cx="625450" cy="0"/>
          </a:xfrm>
          <a:prstGeom prst="line">
            <a:avLst/>
          </a:prstGeom>
          <a:ln w="31750">
            <a:solidFill>
              <a:srgbClr val="2D6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049523" y="2404872"/>
            <a:ext cx="373532" cy="373532"/>
          </a:xfrm>
          <a:prstGeom prst="ellipse">
            <a:avLst/>
          </a:prstGeom>
          <a:solidFill>
            <a:srgbClr val="2D66BE"/>
          </a:solidFill>
          <a:ln>
            <a:solidFill>
              <a:srgbClr val="2D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9523" y="2478024"/>
            <a:ext cx="3735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423056" y="2591638"/>
            <a:ext cx="625450" cy="0"/>
          </a:xfrm>
          <a:prstGeom prst="line">
            <a:avLst/>
          </a:prstGeom>
          <a:ln w="31750">
            <a:solidFill>
              <a:srgbClr val="2D6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048506" y="2404872"/>
            <a:ext cx="373532" cy="373532"/>
          </a:xfrm>
          <a:prstGeom prst="ellipse">
            <a:avLst/>
          </a:prstGeom>
          <a:solidFill>
            <a:srgbClr val="F27E36"/>
          </a:solidFill>
          <a:ln>
            <a:solidFill>
              <a:srgbClr val="F2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48506" y="2478024"/>
            <a:ext cx="3735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422038" y="2591638"/>
            <a:ext cx="625450" cy="0"/>
          </a:xfrm>
          <a:prstGeom prst="line">
            <a:avLst/>
          </a:prstGeom>
          <a:ln w="31750">
            <a:solidFill>
              <a:srgbClr val="F27E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047488" y="2404872"/>
            <a:ext cx="373532" cy="373532"/>
          </a:xfrm>
          <a:prstGeom prst="ellipse">
            <a:avLst/>
          </a:prstGeom>
          <a:solidFill>
            <a:srgbClr val="F27E36"/>
          </a:solidFill>
          <a:ln>
            <a:solidFill>
              <a:srgbClr val="F2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47488" y="2478024"/>
            <a:ext cx="3735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12129" y="2361438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D66BE"/>
                </a:solidFill>
                <a:latin typeface="Aptos"/>
              </a:rPr>
              <a:t>main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70732" y="3794760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27E36"/>
                </a:solidFill>
                <a:latin typeface="Aptos"/>
              </a:rPr>
              <a:t>feature commits replayed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185666"/>
            <a:ext cx="5760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ptos"/>
              </a:rPr>
              <a:t>Linear history; D and E get new commit IDs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03720" y="1965960"/>
            <a:ext cx="4572000" cy="3886200"/>
          </a:xfrm>
          <a:prstGeom prst="roundRect">
            <a:avLst>
              <a:gd name="adj" fmla="val 12000"/>
            </a:avLst>
          </a:prstGeom>
          <a:solidFill>
            <a:srgbClr val="FFEDDF"/>
          </a:solidFill>
          <a:ln>
            <a:solidFill>
              <a:srgbClr val="FFED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2286000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27E36"/>
                </a:solidFill>
                <a:latin typeface="Aptos"/>
              </a:rPr>
              <a:t>WHAT IT DOES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2697480"/>
            <a:ext cx="3749039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4233E"/>
                </a:solidFill>
                <a:latin typeface="Aptos"/>
              </a:rPr>
              <a:t>Creates a cleaner, linear story.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566160"/>
            <a:ext cx="3749039" cy="1645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3042"/>
                </a:solidFill>
                <a:latin typeface="Aptos"/>
              </a:defRPr>
            </a:pPr>
            <a:r>
              <a:t>•  Replays your commits one by one on top of a newer base.</a:t>
            </a:r>
          </a:p>
          <a:p>
            <a:pPr>
              <a:spcAft>
                <a:spcPts val="1000"/>
              </a:spcAft>
              <a:defRPr sz="1400">
                <a:solidFill>
                  <a:srgbClr val="233042"/>
                </a:solidFill>
                <a:latin typeface="Aptos"/>
              </a:defRPr>
            </a:pPr>
            <a:r>
              <a:t>•  Replayed commits receive new IDs because their history changes.</a:t>
            </a:r>
          </a:p>
          <a:p>
            <a:pPr>
              <a:spcAft>
                <a:spcPts val="1000"/>
              </a:spcAft>
              <a:defRPr sz="1400">
                <a:solidFill>
                  <a:srgbClr val="233042"/>
                </a:solidFill>
                <a:latin typeface="Aptos"/>
              </a:defRPr>
            </a:pPr>
            <a:r>
              <a:t>•  Best used before sharing, when you understand the team workflow.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4748B"/>
                </a:solidFill>
                <a:latin typeface="Aptos"/>
              </a:rPr>
              <a:t>MODULE 2  /  GIT &amp; GITLAB FUNDAMENTALS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315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89A8E"/>
                </a:solidFill>
                <a:latin typeface="Aptos"/>
              </a:rPr>
              <a:t>04 / 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33E"/>
                </a:solidFill>
                <a:latin typeface="Aptos"/>
              </a:rPr>
              <a:t>Merge vs Rebase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Aptos"/>
              </a:rPr>
              <a:t>Both integrate changes; the key difference is how the commit history is represented.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5349240" cy="566928"/>
          </a:xfrm>
          <a:prstGeom prst="roundRect">
            <a:avLst>
              <a:gd name="adj" fmla="val 12000"/>
            </a:avLst>
          </a:prstGeom>
          <a:solidFill>
            <a:srgbClr val="14233E"/>
          </a:solidFill>
          <a:ln>
            <a:solidFill>
              <a:srgbClr val="14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29968"/>
            <a:ext cx="46634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MERGE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74519"/>
            <a:ext cx="5257800" cy="566928"/>
          </a:xfrm>
          <a:prstGeom prst="roundRect">
            <a:avLst>
              <a:gd name="adj" fmla="val 12000"/>
            </a:avLst>
          </a:prstGeom>
          <a:solidFill>
            <a:srgbClr val="14233E"/>
          </a:solidFill>
          <a:ln>
            <a:solidFill>
              <a:srgbClr val="14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29968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REBASE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06040"/>
            <a:ext cx="53492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2578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715768"/>
            <a:ext cx="10789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89A8E"/>
                </a:solidFill>
                <a:latin typeface="Aptos"/>
              </a:rPr>
              <a:t>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697480"/>
            <a:ext cx="37947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3042"/>
                </a:solidFill>
                <a:latin typeface="Aptos"/>
              </a:rPr>
              <a:t>Preserves the branching 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697480"/>
            <a:ext cx="4709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3042"/>
                </a:solidFill>
                <a:latin typeface="Aptos"/>
              </a:rPr>
              <a:t>Makes history look linear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55848"/>
            <a:ext cx="53492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3355848"/>
            <a:ext cx="52578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465576"/>
            <a:ext cx="10789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89A8E"/>
                </a:solidFill>
                <a:latin typeface="Aptos"/>
              </a:rPr>
              <a:t>COMMIT IDS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447288"/>
            <a:ext cx="37947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3042"/>
                </a:solidFill>
                <a:latin typeface="Aptos"/>
              </a:rPr>
              <a:t>Existing commits stay the same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447288"/>
            <a:ext cx="4709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3042"/>
                </a:solidFill>
                <a:latin typeface="Aptos"/>
              </a:rPr>
              <a:t>Replayed commits get new IDs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105656"/>
            <a:ext cx="53492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4105656"/>
            <a:ext cx="52578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215384"/>
            <a:ext cx="10789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89A8E"/>
                </a:solidFill>
                <a:latin typeface="Aptos"/>
              </a:rPr>
              <a:t>TRACEABILITY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197096"/>
            <a:ext cx="37947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3042"/>
                </a:solidFill>
                <a:latin typeface="Aptos"/>
              </a:rPr>
              <a:t>Makes the integration point visible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197096"/>
            <a:ext cx="4709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3042"/>
                </a:solidFill>
                <a:latin typeface="Aptos"/>
              </a:rPr>
              <a:t>Can make the timeline easier to read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855464"/>
            <a:ext cx="53492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4855464"/>
            <a:ext cx="52578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965192"/>
            <a:ext cx="10789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89A8E"/>
                </a:solidFill>
                <a:latin typeface="Aptos"/>
              </a:rPr>
              <a:t>TEAM SAFETY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946904"/>
            <a:ext cx="37947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3042"/>
                </a:solidFill>
                <a:latin typeface="Aptos"/>
              </a:rPr>
              <a:t>Usually safe for shared branch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946904"/>
            <a:ext cx="4709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3042"/>
                </a:solidFill>
                <a:latin typeface="Aptos"/>
              </a:rPr>
              <a:t>Avoid rewriting commits others already 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4748B"/>
                </a:solidFill>
                <a:latin typeface="Aptos"/>
              </a:rPr>
              <a:t>MODULE 2  /  GIT &amp; GITLAB FUNDAMENTALS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315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89A8E"/>
                </a:solidFill>
                <a:latin typeface="Aptos"/>
              </a:rPr>
              <a:t>05 / PRACTICAL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33E"/>
                </a:solidFill>
                <a:latin typeface="Aptos"/>
              </a:rPr>
              <a:t>A simple team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Aptos"/>
              </a:rPr>
              <a:t>Imagine you are adding a small feature while another developer updates the main branch.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920239"/>
            <a:ext cx="438912" cy="438912"/>
          </a:xfrm>
          <a:prstGeom prst="ellipse">
            <a:avLst/>
          </a:prstGeom>
          <a:solidFill>
            <a:srgbClr val="189A8E"/>
          </a:solidFill>
          <a:ln>
            <a:solidFill>
              <a:srgbClr val="189A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20824"/>
            <a:ext cx="438912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74519"/>
            <a:ext cx="3291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E"/>
                </a:solidFill>
                <a:latin typeface="Aptos"/>
              </a:rPr>
              <a:t>Create a feature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92807"/>
            <a:ext cx="5120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Aptos"/>
              </a:rPr>
              <a:t>Keep your change isolated.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42415" y="2350008"/>
            <a:ext cx="0" cy="329183"/>
          </a:xfrm>
          <a:prstGeom prst="line">
            <a:avLst/>
          </a:prstGeom>
          <a:ln w="2540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22960" y="2706623"/>
            <a:ext cx="438912" cy="438912"/>
          </a:xfrm>
          <a:prstGeom prst="ellipse">
            <a:avLst/>
          </a:prstGeom>
          <a:solidFill>
            <a:srgbClr val="189A8E"/>
          </a:solidFill>
          <a:ln>
            <a:solidFill>
              <a:srgbClr val="189A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07208"/>
            <a:ext cx="438912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660903"/>
            <a:ext cx="3291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E"/>
                </a:solidFill>
                <a:latin typeface="Aptos"/>
              </a:rPr>
              <a:t>Make changes and commit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79191"/>
            <a:ext cx="5120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Aptos"/>
              </a:rPr>
              <a:t>Save meaningful checkpoints.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42415" y="3136391"/>
            <a:ext cx="0" cy="329184"/>
          </a:xfrm>
          <a:prstGeom prst="line">
            <a:avLst/>
          </a:prstGeom>
          <a:ln w="2540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22960" y="3493007"/>
            <a:ext cx="438912" cy="438912"/>
          </a:xfrm>
          <a:prstGeom prst="ellipse">
            <a:avLst/>
          </a:prstGeom>
          <a:solidFill>
            <a:srgbClr val="189A8E"/>
          </a:solidFill>
          <a:ln>
            <a:solidFill>
              <a:srgbClr val="189A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593591"/>
            <a:ext cx="438912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47287"/>
            <a:ext cx="3291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E"/>
                </a:solidFill>
                <a:latin typeface="Aptos"/>
              </a:rPr>
              <a:t>Fetch the latest 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65575"/>
            <a:ext cx="5120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Aptos"/>
              </a:rPr>
              <a:t>See what changed in the shared branch.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42415" y="3922775"/>
            <a:ext cx="0" cy="329184"/>
          </a:xfrm>
          <a:prstGeom prst="line">
            <a:avLst/>
          </a:prstGeom>
          <a:ln w="2540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" y="4279392"/>
            <a:ext cx="438912" cy="438912"/>
          </a:xfrm>
          <a:prstGeom prst="ellipse">
            <a:avLst/>
          </a:prstGeom>
          <a:solidFill>
            <a:srgbClr val="F27E36"/>
          </a:solidFill>
          <a:ln>
            <a:solidFill>
              <a:srgbClr val="F2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79976"/>
            <a:ext cx="438912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233672"/>
            <a:ext cx="3291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E"/>
                </a:solidFill>
                <a:latin typeface="Aptos"/>
              </a:rPr>
              <a:t>Choose merge or rebase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251959"/>
            <a:ext cx="5120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Aptos"/>
              </a:rPr>
              <a:t>Follow your team's review policy.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42415" y="4709160"/>
            <a:ext cx="0" cy="329184"/>
          </a:xfrm>
          <a:prstGeom prst="line">
            <a:avLst/>
          </a:prstGeom>
          <a:ln w="2540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22960" y="5065776"/>
            <a:ext cx="438912" cy="438912"/>
          </a:xfrm>
          <a:prstGeom prst="ellipse">
            <a:avLst/>
          </a:prstGeom>
          <a:solidFill>
            <a:srgbClr val="F27E36"/>
          </a:solidFill>
          <a:ln>
            <a:solidFill>
              <a:srgbClr val="F2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166360"/>
            <a:ext cx="438912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020056"/>
            <a:ext cx="3291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E"/>
                </a:solidFill>
                <a:latin typeface="Aptos"/>
              </a:rPr>
              <a:t>Open a Pull 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038344"/>
            <a:ext cx="5120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Aptos"/>
              </a:rPr>
              <a:t>Explain the change and request review.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29800" y="2103120"/>
            <a:ext cx="1554480" cy="3200400"/>
          </a:xfrm>
          <a:prstGeom prst="roundRect">
            <a:avLst>
              <a:gd name="adj" fmla="val 12000"/>
            </a:avLst>
          </a:prstGeom>
          <a:solidFill>
            <a:srgbClr val="DCF5F0"/>
          </a:solidFill>
          <a:ln>
            <a:solidFill>
              <a:srgbClr val="DC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0112" y="2395728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89A8E"/>
                </a:solidFill>
                <a:latin typeface="Aptos"/>
              </a:rPr>
              <a:t>REMEMBER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0112" y="2880360"/>
            <a:ext cx="118872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4233E"/>
                </a:solidFill>
                <a:latin typeface="Aptos"/>
              </a:rPr>
              <a:t>Small commits
+ clear review
= safer changes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4748B"/>
                </a:solidFill>
                <a:latin typeface="Aptos"/>
              </a:rPr>
              <a:t>MODULE 2  /  GIT &amp; GITLAB FUNDAMENTALS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315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89A8E"/>
                </a:solidFill>
                <a:latin typeface="Aptos"/>
              </a:rPr>
              <a:t>06 / GOOD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33E"/>
                </a:solidFill>
                <a:latin typeface="Aptos"/>
              </a:rPr>
              <a:t>Commands and a safety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Aptos"/>
              </a:rPr>
              <a:t>Understand what each command changes before running it on a shared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5303520" cy="3566160"/>
          </a:xfrm>
          <a:prstGeom prst="roundRect">
            <a:avLst>
              <a:gd name="adj" fmla="val 12000"/>
            </a:avLst>
          </a:prstGeom>
          <a:solidFill>
            <a:srgbClr val="14233E"/>
          </a:solidFill>
          <a:ln>
            <a:solidFill>
              <a:srgbClr val="14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4480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6DCD3"/>
                </a:solidFill>
                <a:latin typeface="Aptos"/>
              </a:rPr>
              <a:t>COMMON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33472"/>
            <a:ext cx="30632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git switch 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2633472"/>
            <a:ext cx="1737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CDD8E7"/>
                </a:solidFill>
                <a:latin typeface="Aptos"/>
              </a:rPr>
              <a:t>Move to the target branch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30632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git pull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108960"/>
            <a:ext cx="1737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CDD8E7"/>
                </a:solidFill>
                <a:latin typeface="Aptos"/>
              </a:rPr>
              <a:t>Update local 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84448"/>
            <a:ext cx="30632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git switch feature/my-change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584448"/>
            <a:ext cx="1737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CDD8E7"/>
                </a:solidFill>
                <a:latin typeface="Aptos"/>
              </a:rPr>
              <a:t>Return to your feature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59935"/>
            <a:ext cx="30632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git merge 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4059935"/>
            <a:ext cx="1737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CDD8E7"/>
                </a:solidFill>
                <a:latin typeface="Aptos"/>
              </a:rPr>
              <a:t>Merge main into your 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35423"/>
            <a:ext cx="30632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git rebase 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4535423"/>
            <a:ext cx="1737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CDD8E7"/>
                </a:solidFill>
                <a:latin typeface="Aptos"/>
              </a:rPr>
              <a:t>Replay feature commits on main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874519"/>
            <a:ext cx="5166360" cy="3566160"/>
          </a:xfrm>
          <a:prstGeom prst="roundRect">
            <a:avLst>
              <a:gd name="adj" fmla="val 12000"/>
            </a:avLst>
          </a:prstGeom>
          <a:solidFill>
            <a:srgbClr val="FFEDDF"/>
          </a:solidFill>
          <a:ln>
            <a:solidFill>
              <a:srgbClr val="FFED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75120" y="2212848"/>
            <a:ext cx="502920" cy="502920"/>
          </a:xfrm>
          <a:prstGeom prst="ellipse">
            <a:avLst/>
          </a:prstGeom>
          <a:solidFill>
            <a:srgbClr val="F27E36"/>
          </a:solidFill>
          <a:ln>
            <a:solidFill>
              <a:srgbClr val="F2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31343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258568"/>
            <a:ext cx="3566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4233E"/>
                </a:solidFill>
                <a:latin typeface="Aptos"/>
              </a:rPr>
              <a:t>Never casually rebase shared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063240"/>
            <a:ext cx="420624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33042"/>
                </a:solidFill>
                <a:latin typeface="Aptos"/>
              </a:rPr>
              <a:t>Rebase rewrites commit history. If teammates already depend on those commits, rewriting them can create confusion and extra work. Check your team's policy first.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709160"/>
            <a:ext cx="42062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4748B"/>
                </a:solidFill>
                <a:latin typeface="Aptos"/>
              </a:rPr>
              <a:t>Tip: commands above are examples. Run them from the correct repository and branch.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4748B"/>
                </a:solidFill>
                <a:latin typeface="Aptos"/>
              </a:rPr>
              <a:t>MODULE 2  /  GIT &amp; GITLAB FUNDAMENTALS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315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89A8E"/>
                </a:solidFill>
                <a:latin typeface="Aptos"/>
              </a:rPr>
              <a:t>07 / QUICK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33E"/>
                </a:solidFill>
                <a:latin typeface="Aptos"/>
              </a:rPr>
              <a:t>Which one should you choose?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Aptos"/>
              </a:rPr>
              <a:t>Use the team's conventions first. These are useful default guidelines.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5212080" cy="3337560"/>
          </a:xfrm>
          <a:prstGeom prst="roundRect">
            <a:avLst>
              <a:gd name="adj" fmla="val 12000"/>
            </a:avLst>
          </a:prstGeom>
          <a:solidFill>
            <a:srgbClr val="DEEBFC"/>
          </a:solidFill>
          <a:ln>
            <a:solidFill>
              <a:srgbClr val="DEE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04288"/>
            <a:ext cx="4480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D66BE"/>
                </a:solidFill>
                <a:latin typeface="Aptos"/>
              </a:rPr>
              <a:t>CHOOSE MERGE WHEN…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88920"/>
            <a:ext cx="4389120" cy="1828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3042"/>
                </a:solidFill>
                <a:latin typeface="Aptos"/>
              </a:defRPr>
            </a:pPr>
            <a:r>
              <a:t>•  You want to preserve exactly how work from branches came together.</a:t>
            </a:r>
          </a:p>
          <a:p>
            <a:pPr>
              <a:spcAft>
                <a:spcPts val="1200"/>
              </a:spcAft>
              <a:defRPr sz="1500">
                <a:solidFill>
                  <a:srgbClr val="233042"/>
                </a:solidFill>
                <a:latin typeface="Aptos"/>
              </a:defRPr>
            </a:pPr>
            <a:r>
              <a:t>•  The branch is shared and its history should remain intact.</a:t>
            </a:r>
          </a:p>
          <a:p>
            <a:pPr>
              <a:spcAft>
                <a:spcPts val="1200"/>
              </a:spcAft>
              <a:defRPr sz="1500">
                <a:solidFill>
                  <a:srgbClr val="233042"/>
                </a:solidFill>
                <a:latin typeface="Aptos"/>
              </a:defRPr>
            </a:pPr>
            <a:r>
              <a:t>•  The project prefers visible merge commits.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65960"/>
            <a:ext cx="5212080" cy="3337560"/>
          </a:xfrm>
          <a:prstGeom prst="roundRect">
            <a:avLst>
              <a:gd name="adj" fmla="val 12000"/>
            </a:avLst>
          </a:prstGeom>
          <a:solidFill>
            <a:srgbClr val="FFEDDF"/>
          </a:solidFill>
          <a:ln>
            <a:solidFill>
              <a:srgbClr val="FFED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304288"/>
            <a:ext cx="4480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7E36"/>
                </a:solidFill>
                <a:latin typeface="Aptos"/>
              </a:rPr>
              <a:t>CHOOSE REBASE WHEN…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88920"/>
            <a:ext cx="4389120" cy="1828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3042"/>
                </a:solidFill>
                <a:latin typeface="Aptos"/>
              </a:defRPr>
            </a:pPr>
            <a:r>
              <a:t>•  You want a linear, easier-to-follow commit history.</a:t>
            </a:r>
          </a:p>
          <a:p>
            <a:pPr>
              <a:spcAft>
                <a:spcPts val="1200"/>
              </a:spcAft>
              <a:defRPr sz="1500">
                <a:solidFill>
                  <a:srgbClr val="233042"/>
                </a:solidFill>
                <a:latin typeface="Aptos"/>
              </a:defRPr>
            </a:pPr>
            <a:r>
              <a:t>•  You are updating your own feature branch before review.</a:t>
            </a:r>
          </a:p>
          <a:p>
            <a:pPr>
              <a:spcAft>
                <a:spcPts val="1200"/>
              </a:spcAft>
              <a:defRPr sz="1500">
                <a:solidFill>
                  <a:srgbClr val="233042"/>
                </a:solidFill>
                <a:latin typeface="Aptos"/>
              </a:defRPr>
            </a:pPr>
            <a:r>
              <a:t>•  Your team agrees that rebasing is the expected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5596128"/>
            <a:ext cx="7680960" cy="475488"/>
          </a:xfrm>
          <a:prstGeom prst="roundRect">
            <a:avLst>
              <a:gd name="adj" fmla="val 12000"/>
            </a:avLst>
          </a:prstGeom>
          <a:solidFill>
            <a:srgbClr val="14233E"/>
          </a:solidFill>
          <a:ln>
            <a:solidFill>
              <a:srgbClr val="14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5733288"/>
            <a:ext cx="7223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Neither is universally better — choose based on history, collaboration, and team policy.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4748B"/>
                </a:solidFill>
                <a:latin typeface="Aptos"/>
              </a:rPr>
              <a:t>MODULE 2  /  GIT &amp; GITLAB FUNDAMENTALS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5486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6DCD3"/>
                </a:solidFill>
                <a:latin typeface="Aptos"/>
              </a:rPr>
              <a:t>MODULE 02  / 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3152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The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1508760" cy="502920"/>
          </a:xfrm>
          <a:prstGeom prst="roundRect">
            <a:avLst>
              <a:gd name="adj" fmla="val 12000"/>
            </a:avLst>
          </a:prstGeom>
          <a:solidFill>
            <a:srgbClr val="189A8E"/>
          </a:solidFill>
          <a:ln>
            <a:solidFill>
              <a:srgbClr val="189A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2157984"/>
            <a:ext cx="1280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MERGE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2066544"/>
            <a:ext cx="8046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0E8F3"/>
                </a:solidFill>
                <a:latin typeface="Aptos"/>
              </a:rPr>
              <a:t>Combines branch work and preserves the branching history.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17520"/>
            <a:ext cx="1508760" cy="502920"/>
          </a:xfrm>
          <a:prstGeom prst="roundRect">
            <a:avLst>
              <a:gd name="adj" fmla="val 12000"/>
            </a:avLst>
          </a:prstGeom>
          <a:solidFill>
            <a:srgbClr val="F27E36"/>
          </a:solidFill>
          <a:ln>
            <a:solidFill>
              <a:srgbClr val="F2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163824"/>
            <a:ext cx="1280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REBASE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3072384"/>
            <a:ext cx="8046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0E8F3"/>
                </a:solidFill>
                <a:latin typeface="Aptos"/>
              </a:rPr>
              <a:t>Replays commits on a new base for a linear timeline.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23360"/>
            <a:ext cx="1508760" cy="502920"/>
          </a:xfrm>
          <a:prstGeom prst="roundRect">
            <a:avLst>
              <a:gd name="adj" fmla="val 12000"/>
            </a:avLst>
          </a:prstGeom>
          <a:solidFill>
            <a:srgbClr val="189A8E"/>
          </a:solidFill>
          <a:ln>
            <a:solidFill>
              <a:srgbClr val="189A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4169664"/>
            <a:ext cx="1280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TEAMWORK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4078224"/>
            <a:ext cx="8046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0E8F3"/>
                </a:solidFill>
                <a:latin typeface="Aptos"/>
              </a:rPr>
              <a:t>Protect shared history; communicate before rewriting commits.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5349240"/>
            <a:ext cx="10195560" cy="0"/>
          </a:xfrm>
          <a:prstGeom prst="line">
            <a:avLst/>
          </a:prstGeom>
          <a:ln w="12700">
            <a:solidFill>
              <a:srgbClr val="4153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5623560"/>
            <a:ext cx="36576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Questions?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5623560"/>
            <a:ext cx="1463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86DCD3"/>
                </a:solidFill>
                <a:latin typeface="Aptos"/>
              </a:rPr>
              <a:t>Thanks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4748B"/>
                </a:solidFill>
                <a:latin typeface="Aptos"/>
              </a:rPr>
              <a:t>CROSS-FUNCTIONAL LEARNING  /  MODULE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