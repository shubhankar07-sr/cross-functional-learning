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6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772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ROOT CAUSE</a:t>
            </a:r>
            <a:br/>
            <a: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A5DCEB"/>
                </a:solidFill>
                <a:latin typeface="Aptos"/>
              </a:defRPr>
            </a:pPr>
            <a:r>
              <a:t>InstaSafe Portal Login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069080"/>
            <a:ext cx="1371600" cy="54864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Module 4 • Problem Solving &amp; Root Cause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CDDE"/>
                </a:solidFill>
                <a:latin typeface="Aptos"/>
              </a:defRPr>
            </a:pPr>
            <a:r>
              <a:t>Training case study — root cause is a scenario assumption to validate with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096"/>
                </a:solidFill>
                <a:latin typeface="Aptos"/>
              </a:defRPr>
            </a:pPr>
            <a:r>
              <a:t>INCIDENT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63"/>
                </a:solidFill>
                <a:latin typeface="Aptos Display"/>
              </a:defRPr>
            </a:pPr>
            <a:r>
              <a:t>What happened?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  <a:latin typeface="Aptos"/>
              </a:defRPr>
            </a:pPr>
            <a:r>
              <a:t>A login issue became an access and productivity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29000" cy="228600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22860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663"/>
                </a:solidFill>
                <a:latin typeface="Aptos"/>
              </a:defRPr>
            </a:pPr>
            <a:r>
              <a:t>THE INCIDENT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23160"/>
            <a:ext cx="306324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7313F"/>
                </a:solidFill>
                <a:latin typeface="Aptos"/>
              </a:defRPr>
            </a:pPr>
            <a:r>
              <a:t>Multiple users reported that they could not sign in to the InstaSafe Portal.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228600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2286000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663"/>
                </a:solidFill>
                <a:latin typeface="Aptos"/>
              </a:defRPr>
            </a:pPr>
            <a:r>
              <a:t>USER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23160"/>
            <a:ext cx="306324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7313F"/>
                </a:solidFill>
                <a:latin typeface="Aptos"/>
              </a:defRPr>
            </a:pPr>
            <a:r>
              <a:t>Portal resources were unavailable to affected users, interrupting normal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429000" cy="228600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73152" cy="2286000"/>
          </a:xfrm>
          <a:prstGeom prst="rect">
            <a:avLst/>
          </a:prstGeom>
          <a:solidFill>
            <a:srgbClr val="27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659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663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423160"/>
            <a:ext cx="306324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27313F"/>
                </a:solidFill>
                <a:latin typeface="Aptos"/>
              </a:defRPr>
            </a:pPr>
            <a:r>
              <a:t>Support demand increased and teams lost productive time while access was restored.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7313F"/>
                </a:solidFill>
                <a:latin typeface="Aptos"/>
              </a:defRPr>
            </a:pPr>
            <a:r>
              <a:t>Scope for this exercise: authentication service and its user-directory/database dependency.</a:t>
            </a:r>
          </a:p>
          <a:p>
            <a:pPr>
              <a:spcAft>
                <a:spcPts val="1400"/>
              </a:spcAft>
              <a:defRPr sz="1500">
                <a:solidFill>
                  <a:srgbClr val="27313F"/>
                </a:solidFill>
                <a:latin typeface="Aptos"/>
              </a:defRPr>
            </a:pPr>
            <a:r>
              <a:t>The connection-leak explanation is a working scenario, not a claim of verified production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096"/>
                </a:solidFill>
                <a:latin typeface="Aptos"/>
              </a:defRPr>
            </a:pPr>
            <a:r>
              <a:t>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63"/>
                </a:solidFill>
                <a:latin typeface="Aptos Display"/>
              </a:defRPr>
            </a:pPr>
            <a:r>
              <a:t>Start with the observable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  <a:latin typeface="Aptos"/>
              </a:defRPr>
            </a:pPr>
            <a:r>
              <a:t>Separate what users see from the technical cause.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02920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73152" cy="18288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659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663"/>
                </a:solidFill>
                <a:latin typeface="Aptos"/>
              </a:defRPr>
            </a:pPr>
            <a:r>
              <a:t>USER 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423160"/>
            <a:ext cx="466344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27313F"/>
                </a:solidFill>
                <a:latin typeface="Aptos"/>
              </a:defRPr>
            </a:pPr>
            <a:r>
              <a:t>Login attempts fail and users cannot reach portal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02920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73152" cy="1828800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9659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663"/>
                </a:solidFill>
                <a:latin typeface="Aptos"/>
              </a:defRPr>
            </a:pPr>
            <a:r>
              <a:t>TECHNICAL FAILURE TO 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423160"/>
            <a:ext cx="466344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27313F"/>
                </a:solidFill>
                <a:latin typeface="Aptos"/>
              </a:defRPr>
            </a:pPr>
            <a:r>
              <a:t>Authentication cannot complete credential validation or retrieve the required user record.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7313F"/>
                </a:solidFill>
                <a:latin typeface="Aptos"/>
              </a:defRPr>
            </a:pPr>
            <a:r>
              <a:t>Check authentication logs and error codes.</a:t>
            </a:r>
          </a:p>
          <a:p>
            <a:pPr>
              <a:spcAft>
                <a:spcPts val="1400"/>
              </a:spcAft>
              <a:defRPr sz="1700">
                <a:solidFill>
                  <a:srgbClr val="27313F"/>
                </a:solidFill>
                <a:latin typeface="Aptos"/>
              </a:defRPr>
            </a:pPr>
            <a:r>
              <a:t>Compare incident start time with recent deployments.</a:t>
            </a:r>
          </a:p>
          <a:p>
            <a:pPr>
              <a:spcAft>
                <a:spcPts val="1400"/>
              </a:spcAft>
              <a:defRPr sz="1700">
                <a:solidFill>
                  <a:srgbClr val="27313F"/>
                </a:solidFill>
                <a:latin typeface="Aptos"/>
              </a:defRPr>
            </a:pPr>
            <a:r>
              <a:t>Inspect database availability, connection-pool usage, and request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096"/>
                </a:solidFill>
                <a:latin typeface="Aptos"/>
              </a:defRPr>
            </a:pPr>
            <a:r>
              <a:t>FIVE WHYS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63"/>
                </a:solidFill>
                <a:latin typeface="Aptos Display"/>
              </a:defRPr>
            </a:pPr>
            <a:r>
              <a:t>Five Whys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  <a:latin typeface="Aptos"/>
              </a:defRPr>
            </a:pPr>
            <a:r>
              <a:t>Follow the chain from user symptom to a plausible underlying cause.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69880" cy="713232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508760"/>
            <a:ext cx="73152" cy="713232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645919"/>
            <a:ext cx="101041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663"/>
                </a:solidFill>
                <a:latin typeface="Aptos"/>
              </a:defRPr>
            </a:pPr>
            <a:r>
              <a:t>WHY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103120"/>
            <a:ext cx="10104119" cy="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7313F"/>
                </a:solidFill>
                <a:latin typeface="Aptos"/>
              </a:defRPr>
            </a:pPr>
            <a:r>
              <a:t>Login requests fail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404872"/>
            <a:ext cx="10469880" cy="713232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404872"/>
            <a:ext cx="73152" cy="713232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542032"/>
            <a:ext cx="101041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663"/>
                </a:solidFill>
                <a:latin typeface="Aptos"/>
              </a:defRPr>
            </a:pPr>
            <a:r>
              <a:t>WHY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999232"/>
            <a:ext cx="10104119" cy="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7313F"/>
                </a:solidFill>
                <a:latin typeface="Aptos"/>
              </a:defRPr>
            </a:pPr>
            <a:r>
              <a:t>Credentials cannot be validated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00984"/>
            <a:ext cx="10469880" cy="713232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300984"/>
            <a:ext cx="73152" cy="713232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438144"/>
            <a:ext cx="101041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663"/>
                </a:solidFill>
                <a:latin typeface="Aptos"/>
              </a:defRPr>
            </a:pPr>
            <a:r>
              <a:t>WHY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895344"/>
            <a:ext cx="10104119" cy="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7313F"/>
                </a:solidFill>
                <a:latin typeface="Aptos"/>
              </a:defRPr>
            </a:pPr>
            <a:r>
              <a:t>User records cannot be retrieved reliably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97096"/>
            <a:ext cx="10469880" cy="713232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97096"/>
            <a:ext cx="73152" cy="713232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334256"/>
            <a:ext cx="101041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663"/>
                </a:solidFill>
                <a:latin typeface="Aptos"/>
              </a:defRPr>
            </a:pPr>
            <a:r>
              <a:t>WHY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791456"/>
            <a:ext cx="10104119" cy="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7313F"/>
                </a:solidFill>
                <a:latin typeface="Aptos"/>
              </a:defRPr>
            </a:pPr>
            <a:r>
              <a:t>Database connection pool is exhausted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093208"/>
            <a:ext cx="10469880" cy="713232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5093208"/>
            <a:ext cx="73152" cy="713232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230368"/>
            <a:ext cx="101041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663"/>
                </a:solidFill>
                <a:latin typeface="Aptos"/>
              </a:defRPr>
            </a:pPr>
            <a:r>
              <a:t>WHY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687568"/>
            <a:ext cx="10104119" cy="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7313F"/>
                </a:solidFill>
                <a:latin typeface="Aptos"/>
              </a:defRPr>
            </a:pPr>
            <a:r>
              <a:t>A connection leak after a deployment is assumed in this scenario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096"/>
                </a:solidFill>
                <a:latin typeface="Aptos"/>
              </a:defRPr>
            </a:pPr>
            <a: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63"/>
                </a:solidFill>
                <a:latin typeface="Aptos Display"/>
              </a:defRPr>
            </a:pPr>
            <a:r>
              <a:t>Working 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  <a:latin typeface="Aptos"/>
              </a:defRPr>
            </a:pPr>
            <a:r>
              <a:t>The explanation must be confirmed against real technical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6583680" cy="347472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73152" cy="347472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2880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663"/>
                </a:solidFill>
                <a:latin typeface="Aptos"/>
              </a:defRPr>
            </a:pPr>
            <a:r>
              <a:t>CONNECTION LEAK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86000"/>
            <a:ext cx="6217920" cy="2788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27313F"/>
                </a:solidFill>
                <a:latin typeface="Aptos"/>
              </a:defRPr>
            </a:pPr>
            <a:r>
              <a:t>In the assignment scenario, database connections are not released correctly by the authentication service. The pool gradually fills up, and new authentication requests cannot obtain a connection.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691640"/>
            <a:ext cx="3611880" cy="347472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1691640"/>
            <a:ext cx="73152" cy="3474720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182880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663"/>
                </a:solidFill>
                <a:latin typeface="Aptos"/>
              </a:defRPr>
            </a:pPr>
            <a:r>
              <a:t>CONTRIBUTING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286000"/>
            <a:ext cx="3246120" cy="2788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27313F"/>
                </a:solidFill>
                <a:latin typeface="Aptos"/>
              </a:defRPr>
            </a:pPr>
            <a:r>
              <a:t>• Pool saturation alerts</a:t>
            </a:r>
            <a:br/>
            <a:br/>
            <a:r>
              <a:t>• Sustained-load tests</a:t>
            </a:r>
            <a:br/>
            <a:br/>
            <a:r>
              <a:t>• Resource-focused code review</a:t>
            </a:r>
            <a:br/>
            <a:br/>
            <a:r>
              <a:t>• Fast rollback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8640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663"/>
                </a:solidFill>
                <a:latin typeface="Aptos"/>
              </a:defRPr>
            </a:pPr>
            <a:r>
              <a:t>Evidence to verify: deployment timeline • connection metrics • authentication logs • database 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096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63"/>
                </a:solidFill>
                <a:latin typeface="Aptos Display"/>
              </a:defRPr>
            </a:pPr>
            <a:r>
              <a:t>Recovery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  <a:latin typeface="Aptos"/>
              </a:defRPr>
            </a:pPr>
            <a:r>
              <a:t>Restore access safely, then remove the cause.</a:t>
            </a:r>
          </a:p>
        </p:txBody>
      </p:sp>
      <p:sp>
        <p:nvSpPr>
          <p:cNvPr id="7" name="Oval 6"/>
          <p:cNvSpPr/>
          <p:nvPr/>
        </p:nvSpPr>
        <p:spPr>
          <a:xfrm>
            <a:off x="1216152" y="1828800"/>
            <a:ext cx="658368" cy="658368"/>
          </a:xfrm>
          <a:prstGeom prst="ellipse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2057400" cy="205740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743200"/>
            <a:ext cx="73152" cy="2057400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8803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663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337560"/>
            <a:ext cx="16916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7313F"/>
                </a:solidFill>
                <a:latin typeface="Aptos"/>
              </a:defRPr>
            </a:pPr>
            <a:r>
              <a:t>Correlate login errors, pool metrics, and deployment history.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1760" y="1993392"/>
            <a:ext cx="256032" cy="320040"/>
          </a:xfrm>
          <a:prstGeom prst="chevron">
            <a:avLst/>
          </a:prstGeom>
          <a:solidFill>
            <a:srgbClr val="B4B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1828800"/>
            <a:ext cx="658368" cy="658368"/>
          </a:xfrm>
          <a:prstGeom prst="ellipse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79" y="2743200"/>
            <a:ext cx="2057400" cy="205740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79" y="2743200"/>
            <a:ext cx="73152" cy="2057400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8803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663"/>
                </a:solidFill>
                <a:latin typeface="Aptos"/>
              </a:defRPr>
            </a:pPr>
            <a:r>
              <a:t>Stabilize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337560"/>
            <a:ext cx="16916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7313F"/>
                </a:solidFill>
                <a:latin typeface="Aptos"/>
              </a:defRPr>
            </a:pPr>
            <a:r>
              <a:t>Use the approved recovery procedure to restore service capacity.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83479" y="1993392"/>
            <a:ext cx="256032" cy="320040"/>
          </a:xfrm>
          <a:prstGeom prst="chevron">
            <a:avLst/>
          </a:prstGeom>
          <a:solidFill>
            <a:srgbClr val="B4B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79592" y="1828800"/>
            <a:ext cx="658368" cy="658368"/>
          </a:xfrm>
          <a:prstGeom prst="ellipse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743200"/>
            <a:ext cx="2057400" cy="205740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57800" y="2743200"/>
            <a:ext cx="73152" cy="20574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8968" y="28803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663"/>
                </a:solidFill>
                <a:latin typeface="Aptos"/>
              </a:defRPr>
            </a:pPr>
            <a:r>
              <a:t>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3337560"/>
            <a:ext cx="16916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7313F"/>
                </a:solidFill>
                <a:latin typeface="Aptos"/>
              </a:defRPr>
            </a:pPr>
            <a:r>
              <a:t>Correct connection lifecycle handling and ensure connections are released.</a:t>
            </a:r>
          </a:p>
        </p:txBody>
      </p:sp>
      <p:sp>
        <p:nvSpPr>
          <p:cNvPr id="24" name="Chevron 23"/>
          <p:cNvSpPr/>
          <p:nvPr/>
        </p:nvSpPr>
        <p:spPr>
          <a:xfrm>
            <a:off x="7315200" y="1993392"/>
            <a:ext cx="256032" cy="320040"/>
          </a:xfrm>
          <a:prstGeom prst="chevron">
            <a:avLst/>
          </a:prstGeom>
          <a:solidFill>
            <a:srgbClr val="B4B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1311" y="1828800"/>
            <a:ext cx="658368" cy="658368"/>
          </a:xfrm>
          <a:prstGeom prst="ellipse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19" y="2743200"/>
            <a:ext cx="2057400" cy="205740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19" y="2743200"/>
            <a:ext cx="73152" cy="2057400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28803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663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3337560"/>
            <a:ext cx="16916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7313F"/>
                </a:solidFill>
                <a:latin typeface="Aptos"/>
              </a:defRPr>
            </a:pPr>
            <a:r>
              <a:t>Run login, regression, and sustained-load tests before release.</a:t>
            </a:r>
          </a:p>
        </p:txBody>
      </p:sp>
      <p:sp>
        <p:nvSpPr>
          <p:cNvPr id="30" name="Chevron 29"/>
          <p:cNvSpPr/>
          <p:nvPr/>
        </p:nvSpPr>
        <p:spPr>
          <a:xfrm>
            <a:off x="9646919" y="1993392"/>
            <a:ext cx="256032" cy="320040"/>
          </a:xfrm>
          <a:prstGeom prst="chevron">
            <a:avLst/>
          </a:prstGeom>
          <a:solidFill>
            <a:srgbClr val="B4B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43032" y="1828800"/>
            <a:ext cx="658368" cy="658368"/>
          </a:xfrm>
          <a:prstGeom prst="ellipse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2743200"/>
            <a:ext cx="2057400" cy="205740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21240" y="2743200"/>
            <a:ext cx="73152" cy="2057400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2408" y="28803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663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8" y="3337560"/>
            <a:ext cx="16916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27313F"/>
                </a:solidFill>
                <a:latin typeface="Aptos"/>
              </a:defRPr>
            </a:pPr>
            <a:r>
              <a:t>Confirm successful sign-ins and watch error rates and pool health.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096"/>
                </a:solidFill>
                <a:latin typeface="Aptos"/>
              </a:defRPr>
            </a:pPr>
            <a:r>
              <a:t>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63"/>
                </a:solidFill>
                <a:latin typeface="Aptos Display"/>
              </a:defRPr>
            </a:pPr>
            <a:r>
              <a:t>Prevent it from happening again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  <a:latin typeface="Aptos"/>
              </a:defRPr>
            </a:pPr>
            <a:r>
              <a:t>Actions need clear owners and measurable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402336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73152" cy="658368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0992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663"/>
                </a:solidFill>
                <a:latin typeface="Aptos"/>
              </a:defRPr>
            </a:pPr>
            <a:r>
              <a:t>Connection-pool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67128"/>
            <a:ext cx="365760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27313F"/>
                </a:solidFill>
                <a:latin typeface="Aptos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4892040" y="1572768"/>
            <a:ext cx="256032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1572768"/>
            <a:ext cx="73152" cy="65836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7" y="170992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3663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2167128"/>
            <a:ext cx="219456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7313F"/>
                </a:solidFill>
                <a:latin typeface="Aptos"/>
              </a:defRPr>
            </a:pPr>
            <a:r>
              <a:t>DevOps /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572768"/>
            <a:ext cx="384048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1572768"/>
            <a:ext cx="73152" cy="658368"/>
          </a:xfrm>
          <a:prstGeom prst="rect">
            <a:avLst/>
          </a:prstGeom>
          <a:solidFill>
            <a:srgbClr val="27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170992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3663"/>
                </a:solidFill>
                <a:latin typeface="Aptos"/>
              </a:defRPr>
            </a:pPr>
            <a:r>
              <a:t>SUCCESS 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2167128"/>
            <a:ext cx="347472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7313F"/>
                </a:solidFill>
                <a:latin typeface="Aptos"/>
              </a:defRPr>
            </a:pPr>
            <a:r>
              <a:t>Alert before saturation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423160"/>
            <a:ext cx="402336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423160"/>
            <a:ext cx="73152" cy="658368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663"/>
                </a:solidFill>
                <a:latin typeface="Aptos"/>
              </a:defRPr>
            </a:pPr>
            <a:r>
              <a:t>Authentication health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017520"/>
            <a:ext cx="365760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27313F"/>
                </a:solidFill>
                <a:latin typeface="Aptos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4892040" y="2423160"/>
            <a:ext cx="256032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2423160"/>
            <a:ext cx="73152" cy="65836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3207" y="25603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3663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7" y="3017520"/>
            <a:ext cx="219456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7313F"/>
                </a:solidFill>
                <a:latin typeface="Aptos"/>
              </a:defRPr>
            </a:pPr>
            <a:r>
              <a:t>DevOps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2423160"/>
            <a:ext cx="384048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2423160"/>
            <a:ext cx="73152" cy="658368"/>
          </a:xfrm>
          <a:prstGeom prst="rect">
            <a:avLst/>
          </a:prstGeom>
          <a:solidFill>
            <a:srgbClr val="27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2560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3663"/>
                </a:solidFill>
                <a:latin typeface="Aptos"/>
              </a:defRPr>
            </a:pPr>
            <a:r>
              <a:t>SUCCESS MEASURE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017520"/>
            <a:ext cx="347472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7313F"/>
                </a:solidFill>
                <a:latin typeface="Aptos"/>
              </a:defRPr>
            </a:pPr>
            <a:r>
              <a:t>Detect full-flow login failure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273552"/>
            <a:ext cx="402336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3273552"/>
            <a:ext cx="73152" cy="658368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341071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663"/>
                </a:solidFill>
                <a:latin typeface="Aptos"/>
              </a:defRPr>
            </a:pPr>
            <a:r>
              <a:t>Load and soak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3867912"/>
            <a:ext cx="365760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27313F"/>
                </a:solidFill>
                <a:latin typeface="Aptos"/>
              </a:defRPr>
            </a:pPr>
          </a:p>
        </p:txBody>
      </p:sp>
      <p:sp>
        <p:nvSpPr>
          <p:cNvPr id="35" name="Rounded Rectangle 34"/>
          <p:cNvSpPr/>
          <p:nvPr/>
        </p:nvSpPr>
        <p:spPr>
          <a:xfrm>
            <a:off x="4892040" y="3273552"/>
            <a:ext cx="256032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92040" y="3273552"/>
            <a:ext cx="73152" cy="65836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93207" y="34107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3663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3207" y="3867912"/>
            <a:ext cx="219456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7313F"/>
                </a:solidFill>
                <a:latin typeface="Aptos"/>
              </a:defRPr>
            </a:pPr>
            <a:r>
              <a:t>QA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35240" y="3273552"/>
            <a:ext cx="384048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35240" y="3273552"/>
            <a:ext cx="73152" cy="658368"/>
          </a:xfrm>
          <a:prstGeom prst="rect">
            <a:avLst/>
          </a:prstGeom>
          <a:solidFill>
            <a:srgbClr val="27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36408" y="34107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3663"/>
                </a:solidFill>
                <a:latin typeface="Aptos"/>
              </a:defRPr>
            </a:pPr>
            <a:r>
              <a:t>SUCCESS MEASURE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36408" y="3867912"/>
            <a:ext cx="347472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7313F"/>
                </a:solidFill>
                <a:latin typeface="Aptos"/>
              </a:defRPr>
            </a:pPr>
            <a:r>
              <a:t>Validate peak and sustained traffic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123944"/>
            <a:ext cx="402336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4123944"/>
            <a:ext cx="73152" cy="658368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4261104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663"/>
                </a:solidFill>
                <a:latin typeface="Aptos"/>
              </a:defRPr>
            </a:pPr>
            <a:r>
              <a:t>Resource-safe code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" y="4718304"/>
            <a:ext cx="365760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27313F"/>
                </a:solidFill>
                <a:latin typeface="Aptos"/>
              </a:defRPr>
            </a:pPr>
          </a:p>
        </p:txBody>
      </p:sp>
      <p:sp>
        <p:nvSpPr>
          <p:cNvPr id="47" name="Rounded Rectangle 46"/>
          <p:cNvSpPr/>
          <p:nvPr/>
        </p:nvSpPr>
        <p:spPr>
          <a:xfrm>
            <a:off x="4892040" y="4123944"/>
            <a:ext cx="256032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92040" y="4123944"/>
            <a:ext cx="73152" cy="65836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93207" y="426110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3663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93207" y="4718304"/>
            <a:ext cx="219456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7313F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35240" y="4123944"/>
            <a:ext cx="384048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635240" y="4123944"/>
            <a:ext cx="73152" cy="658368"/>
          </a:xfrm>
          <a:prstGeom prst="rect">
            <a:avLst/>
          </a:prstGeom>
          <a:solidFill>
            <a:srgbClr val="27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36408" y="426110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3663"/>
                </a:solidFill>
                <a:latin typeface="Aptos"/>
              </a:defRPr>
            </a:pPr>
            <a:r>
              <a:t>SUCCESS MEASURE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36408" y="4718304"/>
            <a:ext cx="347472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7313F"/>
                </a:solidFill>
                <a:latin typeface="Aptos"/>
              </a:defRPr>
            </a:pPr>
            <a:r>
              <a:t>Prevent leaked connections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4974336"/>
            <a:ext cx="402336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5800" y="4974336"/>
            <a:ext cx="73152" cy="658368"/>
          </a:xfrm>
          <a:prstGeom prst="rect">
            <a:avLst/>
          </a:prstGeom>
          <a:solidFill>
            <a:srgbClr val="007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" y="511149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663"/>
                </a:solidFill>
                <a:latin typeface="Aptos"/>
              </a:defRPr>
            </a:pPr>
            <a:r>
              <a:t>Rollback thresholds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" y="5568696"/>
            <a:ext cx="365760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>
                <a:solidFill>
                  <a:srgbClr val="27313F"/>
                </a:solidFill>
                <a:latin typeface="Aptos"/>
              </a:defRPr>
            </a:pPr>
          </a:p>
        </p:txBody>
      </p:sp>
      <p:sp>
        <p:nvSpPr>
          <p:cNvPr id="59" name="Rounded Rectangle 58"/>
          <p:cNvSpPr/>
          <p:nvPr/>
        </p:nvSpPr>
        <p:spPr>
          <a:xfrm>
            <a:off x="4892040" y="4974336"/>
            <a:ext cx="256032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92040" y="4974336"/>
            <a:ext cx="73152" cy="65836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93207" y="511149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3663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93207" y="5568696"/>
            <a:ext cx="219456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7313F"/>
                </a:solidFill>
                <a:latin typeface="Aptos"/>
              </a:defRPr>
            </a:pPr>
            <a:r>
              <a:t>DevOps / Release owner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35240" y="4974336"/>
            <a:ext cx="3840480" cy="658368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35240" y="4974336"/>
            <a:ext cx="73152" cy="658368"/>
          </a:xfrm>
          <a:prstGeom prst="rect">
            <a:avLst/>
          </a:prstGeom>
          <a:solidFill>
            <a:srgbClr val="27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36408" y="5111496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3663"/>
                </a:solidFill>
                <a:latin typeface="Aptos"/>
              </a:defRPr>
            </a:pPr>
            <a:r>
              <a:t>SUCCESS MEASURE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36408" y="5568696"/>
            <a:ext cx="3474720" cy="-274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27313F"/>
                </a:solidFill>
                <a:latin typeface="Aptos"/>
              </a:defRPr>
            </a:pPr>
            <a:r>
              <a:t>Reduce time to recover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096"/>
                </a:solidFill>
                <a:latin typeface="Aptos"/>
              </a:defRPr>
            </a:pPr>
            <a:r>
              <a:t>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63"/>
                </a:solidFill>
                <a:latin typeface="Aptos Display"/>
              </a:defRPr>
            </a:pPr>
            <a:r>
              <a:t>How will we know the incident is resolved?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80"/>
                </a:solidFill>
                <a:latin typeface="Aptos"/>
              </a:defRPr>
            </a:pPr>
            <a:r>
              <a:t>Closure is based on service evidence, not only a successful restart.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313F"/>
                </a:solidFill>
                <a:latin typeface="Aptos"/>
              </a:defRPr>
            </a:pPr>
            <a:r>
              <a:t>Representative login tests pass and affected users regain access.</a:t>
            </a:r>
          </a:p>
          <a:p>
            <a:pPr>
              <a:spcAft>
                <a:spcPts val="1400"/>
              </a:spcAft>
              <a:defRPr sz="1900">
                <a:solidFill>
                  <a:srgbClr val="27313F"/>
                </a:solidFill>
                <a:latin typeface="Aptos"/>
              </a:defRPr>
            </a:pPr>
            <a:r>
              <a:t>Authentication error rates return to the expected baseline.</a:t>
            </a:r>
          </a:p>
          <a:p>
            <a:pPr>
              <a:spcAft>
                <a:spcPts val="1400"/>
              </a:spcAft>
              <a:defRPr sz="1900">
                <a:solidFill>
                  <a:srgbClr val="27313F"/>
                </a:solidFill>
                <a:latin typeface="Aptos"/>
              </a:defRPr>
            </a:pPr>
            <a:r>
              <a:t>Connection-pool utilization and wait time remain healthy under load.</a:t>
            </a:r>
          </a:p>
          <a:p>
            <a:pPr>
              <a:spcAft>
                <a:spcPts val="1400"/>
              </a:spcAft>
              <a:defRPr sz="1900">
                <a:solidFill>
                  <a:srgbClr val="27313F"/>
                </a:solidFill>
                <a:latin typeface="Aptos"/>
              </a:defRPr>
            </a:pPr>
            <a:r>
              <a:t>The code fix is deployed, monitored, and linked to tracked preventive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29200"/>
            <a:ext cx="10332720" cy="868680"/>
          </a:xfrm>
          <a:prstGeom prst="roundRect">
            <a:avLst/>
          </a:prstGeom>
          <a:solidFill>
            <a:srgbClr val="EFF4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029200"/>
            <a:ext cx="73152" cy="86868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16636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663"/>
                </a:solidFill>
                <a:latin typeface="Aptos"/>
              </a:defRPr>
            </a:pPr>
            <a:r>
              <a:t>KEY LESSON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623560"/>
            <a:ext cx="9966960" cy="1828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27313F"/>
                </a:solidFill>
                <a:latin typeface="Aptos"/>
              </a:defRPr>
            </a:pPr>
            <a:r>
              <a:t>A login error can be caused by a dependency behind the login screen. Monitor dependencies, test realistic load, and validate RCA conclusions with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6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A5DCEB"/>
                </a:solidFill>
                <a:latin typeface="Aptos"/>
              </a:defRPr>
            </a:pPr>
            <a:r>
              <a:t>Find the cause. Restore the service. Prevent recurrence.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436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Module 4 • Problem Solving &amp; Root Cause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