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58200" y="0"/>
            <a:ext cx="3730752" cy="6858000"/>
          </a:xfrm>
          <a:prstGeom prst="roundRect">
            <a:avLst>
              <a:gd name="adj" fmla="val 12000"/>
            </a:avLst>
          </a:prstGeom>
          <a:solidFill>
            <a:srgbClr val="1F3252"/>
          </a:solidFill>
          <a:ln>
            <a:solidFill>
              <a:srgbClr val="1F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69494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89DED4"/>
                </a:solidFill>
                <a:latin typeface="Aptos"/>
              </a:rPr>
              <a:t>CROSS-FUNCTIONAL LEARNING  /  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858000" cy="2560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VPN
vs
ZERO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60520"/>
            <a:ext cx="65836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900" b="0">
                <a:solidFill>
                  <a:srgbClr val="DAE4F1"/>
                </a:solidFill>
                <a:latin typeface="Aptos"/>
              </a:rPr>
              <a:t>Two approaches to securing access in a connected world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166360"/>
            <a:ext cx="2057400" cy="73152"/>
          </a:xfrm>
          <a:prstGeom prst="roundRect">
            <a:avLst>
              <a:gd name="adj" fmla="val 12000"/>
            </a:avLst>
          </a:prstGeom>
          <a:solidFill>
            <a:srgbClr val="F17E37"/>
          </a:solidFill>
          <a:ln>
            <a:solidFill>
              <a:srgbClr val="F1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440680"/>
            <a:ext cx="5943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B2C2D7"/>
                </a:solidFill>
                <a:latin typeface="Aptos"/>
              </a:rPr>
              <a:t>A practical introduction for interns</a:t>
            </a:r>
          </a:p>
        </p:txBody>
      </p:sp>
      <p:sp>
        <p:nvSpPr>
          <p:cNvPr id="8" name="Oval 7"/>
          <p:cNvSpPr/>
          <p:nvPr/>
        </p:nvSpPr>
        <p:spPr>
          <a:xfrm>
            <a:off x="8915400" y="2468880"/>
            <a:ext cx="658368" cy="658368"/>
          </a:xfrm>
          <a:prstGeom prst="ellipse">
            <a:avLst/>
          </a:prstGeom>
          <a:solidFill>
            <a:srgbClr val="1C9D91"/>
          </a:solidFill>
          <a:ln>
            <a:solidFill>
              <a:srgbClr val="1C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51392" y="3200400"/>
            <a:ext cx="82296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2377440"/>
            <a:ext cx="914400" cy="822960"/>
          </a:xfrm>
          <a:prstGeom prst="roundRect">
            <a:avLst>
              <a:gd name="adj" fmla="val 12000"/>
            </a:avLst>
          </a:prstGeom>
          <a:solidFill>
            <a:srgbClr val="3169BE"/>
          </a:solidFill>
          <a:ln>
            <a:solidFill>
              <a:srgbClr val="31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2660904"/>
            <a:ext cx="82296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VPN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73768" y="2788920"/>
            <a:ext cx="438912" cy="0"/>
          </a:xfrm>
          <a:prstGeom prst="line">
            <a:avLst/>
          </a:prstGeom>
          <a:ln w="38100">
            <a:solidFill>
              <a:srgbClr val="89A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27080" y="2788920"/>
            <a:ext cx="228600" cy="0"/>
          </a:xfrm>
          <a:prstGeom prst="line">
            <a:avLst/>
          </a:prstGeom>
          <a:ln w="38100">
            <a:solidFill>
              <a:srgbClr val="F1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155680" y="1463040"/>
            <a:ext cx="685800" cy="530352"/>
          </a:xfrm>
          <a:prstGeom prst="roundRect">
            <a:avLst>
              <a:gd name="adj" fmla="val 12000"/>
            </a:avLst>
          </a:prstGeom>
          <a:solidFill>
            <a:srgbClr val="1C9D91"/>
          </a:solidFill>
          <a:ln>
            <a:solidFill>
              <a:srgbClr val="1C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83112" y="1636776"/>
            <a:ext cx="630936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0927080" y="1728216"/>
            <a:ext cx="228600" cy="1060704"/>
          </a:xfrm>
          <a:prstGeom prst="line">
            <a:avLst/>
          </a:prstGeom>
          <a:ln w="19050">
            <a:solidFill>
              <a:srgbClr val="89A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1155680" y="2514600"/>
            <a:ext cx="685800" cy="530352"/>
          </a:xfrm>
          <a:prstGeom prst="roundRect">
            <a:avLst>
              <a:gd name="adj" fmla="val 12000"/>
            </a:avLst>
          </a:prstGeom>
          <a:solidFill>
            <a:srgbClr val="F17E37"/>
          </a:solidFill>
          <a:ln>
            <a:solidFill>
              <a:srgbClr val="F1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83112" y="2688336"/>
            <a:ext cx="630936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0927080" y="2779776"/>
            <a:ext cx="228600" cy="9144"/>
          </a:xfrm>
          <a:prstGeom prst="line">
            <a:avLst/>
          </a:prstGeom>
          <a:ln w="19050">
            <a:solidFill>
              <a:srgbClr val="89A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155680" y="3566160"/>
            <a:ext cx="685800" cy="530352"/>
          </a:xfrm>
          <a:prstGeom prst="roundRect">
            <a:avLst>
              <a:gd name="adj" fmla="val 12000"/>
            </a:avLst>
          </a:prstGeom>
          <a:solidFill>
            <a:srgbClr val="1C9D91"/>
          </a:solidFill>
          <a:ln>
            <a:solidFill>
              <a:srgbClr val="1C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83112" y="3739896"/>
            <a:ext cx="630936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CLOUD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927080" y="2788920"/>
            <a:ext cx="228600" cy="1042415"/>
          </a:xfrm>
          <a:prstGeom prst="line">
            <a:avLst/>
          </a:prstGeom>
          <a:ln w="19050">
            <a:solidFill>
              <a:srgbClr val="89A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144000" y="4617720"/>
            <a:ext cx="320040" cy="320040"/>
          </a:xfrm>
          <a:prstGeom prst="ellipse">
            <a:avLst/>
          </a:prstGeom>
          <a:solidFill>
            <a:srgbClr val="F17E37"/>
          </a:solidFill>
          <a:ln>
            <a:solidFill>
              <a:srgbClr val="F1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29800" y="4617720"/>
            <a:ext cx="320040" cy="320040"/>
          </a:xfrm>
          <a:prstGeom prst="ellipse">
            <a:avLst/>
          </a:prstGeom>
          <a:solidFill>
            <a:srgbClr val="1C9D91"/>
          </a:solidFill>
          <a:ln>
            <a:solidFill>
              <a:srgbClr val="1C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15600" y="4617720"/>
            <a:ext cx="320040" cy="320040"/>
          </a:xfrm>
          <a:prstGeom prst="ellipse">
            <a:avLst/>
          </a:prstGeom>
          <a:solidFill>
            <a:srgbClr val="3169BE"/>
          </a:solidFill>
          <a:ln>
            <a:solidFill>
              <a:srgbClr val="31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464040" y="4773168"/>
            <a:ext cx="36576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149840" y="4773168"/>
            <a:ext cx="36576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823960" y="5166360"/>
            <a:ext cx="2651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89DED4"/>
                </a:solidFill>
                <a:latin typeface="Aptos"/>
              </a:rPr>
              <a:t>ACCESS IS A DECISION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1C9D91"/>
                </a:solidFill>
                <a:latin typeface="Aptos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2744"/>
                </a:solidFill>
                <a:latin typeface="Aptos"/>
              </a:rPr>
              <a:t>Why does secure access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65758B"/>
                </a:solidFill>
                <a:latin typeface="Aptos"/>
              </a:rPr>
              <a:t>People work from offices, homes, campuses, and mobile devices. Data and apps live in many places.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3832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450592"/>
            <a:ext cx="502920" cy="502920"/>
          </a:xfrm>
          <a:prstGeom prst="ellipse">
            <a:avLst/>
          </a:prstGeom>
          <a:solidFill>
            <a:srgbClr val="3169BE"/>
          </a:solidFill>
          <a:ln>
            <a:solidFill>
              <a:srgbClr val="31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96896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743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3169BE"/>
                </a:solidFill>
                <a:latin typeface="Aptos"/>
              </a:rPr>
              <a:t>PEOPLE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27432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Aptos"/>
              </a:rPr>
              <a:t>Employees, interns, contractors, and partners need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148840"/>
            <a:ext cx="33832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00600" y="2450592"/>
            <a:ext cx="502920" cy="502920"/>
          </a:xfrm>
          <a:prstGeom prst="ellipse">
            <a:avLst/>
          </a:prstGeom>
          <a:solidFill>
            <a:srgbClr val="F17E37"/>
          </a:solidFill>
          <a:ln>
            <a:solidFill>
              <a:srgbClr val="F1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596896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154680"/>
            <a:ext cx="2743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F17E37"/>
                </a:solidFill>
                <a:latin typeface="Aptos"/>
              </a:rPr>
              <a:t>DEVICES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566160"/>
            <a:ext cx="27432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Aptos"/>
              </a:rPr>
              <a:t>Laptops and phones may be managed, outdated, or compromised.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148840"/>
            <a:ext cx="33832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60" y="2450592"/>
            <a:ext cx="502920" cy="502920"/>
          </a:xfrm>
          <a:prstGeom prst="ellipse">
            <a:avLst/>
          </a:prstGeom>
          <a:solidFill>
            <a:srgbClr val="1C9D91"/>
          </a:solidFill>
          <a:ln>
            <a:solidFill>
              <a:srgbClr val="1C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596896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154680"/>
            <a:ext cx="2743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C9D91"/>
                </a:solidFill>
                <a:latin typeface="Aptos"/>
              </a:rPr>
              <a:t>RESOURCES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566160"/>
            <a:ext cx="27432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Aptos"/>
              </a:rPr>
              <a:t>Applications and data may be on-premises or in the cloud.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074920"/>
            <a:ext cx="9966960" cy="594360"/>
          </a:xfrm>
          <a:prstGeom prst="roundRect">
            <a:avLst>
              <a:gd name="adj" fmla="val 12000"/>
            </a:avLst>
          </a:prstGeom>
          <a:solidFill>
            <a:srgbClr val="162744"/>
          </a:solidFill>
          <a:ln>
            <a:solidFill>
              <a:srgbClr val="16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5266944"/>
            <a:ext cx="950976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Goal: let the right person access the right resource — with the right level of trust.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65758B"/>
                </a:solidFill>
                <a:latin typeface="Aptos"/>
              </a:rPr>
              <a:t>CROSS-FUNCTIONAL LEARNING  /  MODULE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6575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1C9D91"/>
                </a:solidFill>
                <a:latin typeface="Aptos"/>
              </a:rPr>
              <a:t>02 / TRADITIONAL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2744"/>
                </a:solidFill>
                <a:latin typeface="Aptos"/>
              </a:rPr>
              <a:t>What is a VPN?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65758B"/>
                </a:solidFill>
                <a:latin typeface="Aptos"/>
              </a:rPr>
              <a:t>A Virtual Private Network creates an encrypted connection between a device and a private network.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658368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971800"/>
            <a:ext cx="731520" cy="731520"/>
          </a:xfrm>
          <a:prstGeom prst="ellipse">
            <a:avLst/>
          </a:prstGeom>
          <a:solidFill>
            <a:srgbClr val="3169BE"/>
          </a:solidFill>
          <a:ln>
            <a:solidFill>
              <a:srgbClr val="31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822191"/>
            <a:ext cx="9601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3169BE"/>
                </a:solidFill>
                <a:latin typeface="Aptos"/>
              </a:rPr>
              <a:t>DEVICE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88036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DEF6F1"/>
          </a:solidFill>
          <a:ln>
            <a:solidFill>
              <a:srgbClr val="1C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3127248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1C9D91"/>
                </a:solidFill>
                <a:latin typeface="Aptos"/>
              </a:rPr>
              <a:t>ENCRYPTED
TUNNEL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2651760"/>
            <a:ext cx="1005840" cy="1371600"/>
          </a:xfrm>
          <a:prstGeom prst="roundRect">
            <a:avLst>
              <a:gd name="adj" fmla="val 12000"/>
            </a:avLst>
          </a:prstGeom>
          <a:solidFill>
            <a:srgbClr val="162744"/>
          </a:solidFill>
          <a:ln>
            <a:solidFill>
              <a:srgbClr val="16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15584" y="3063240"/>
            <a:ext cx="896112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PRIVATE
NETWORK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74519" y="3337560"/>
            <a:ext cx="1371601" cy="0"/>
          </a:xfrm>
          <a:prstGeom prst="line">
            <a:avLst/>
          </a:prstGeom>
          <a:ln w="38100">
            <a:solidFill>
              <a:srgbClr val="31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80" y="3337560"/>
            <a:ext cx="1005840" cy="0"/>
          </a:xfrm>
          <a:prstGeom prst="line">
            <a:avLst/>
          </a:prstGeom>
          <a:ln w="38100">
            <a:solidFill>
              <a:srgbClr val="1C9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40280" y="2542032"/>
            <a:ext cx="2103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65758B"/>
                </a:solidFill>
                <a:latin typeface="Aptos"/>
              </a:rPr>
              <a:t>Encrypted connection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128016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3169BE"/>
                </a:solidFill>
                <a:latin typeface="Aptos"/>
              </a:rPr>
              <a:t>Typical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681728"/>
            <a:ext cx="4389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273448"/>
                </a:solidFill>
                <a:latin typeface="Aptos"/>
              </a:rPr>
              <a:t>Connect → authenticate → reach network resources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920240"/>
            <a:ext cx="3840480" cy="3840480"/>
          </a:xfrm>
          <a:prstGeom prst="roundRect">
            <a:avLst>
              <a:gd name="adj" fmla="val 12000"/>
            </a:avLst>
          </a:prstGeom>
          <a:solidFill>
            <a:srgbClr val="E2EDFD"/>
          </a:solidFill>
          <a:ln>
            <a:solidFill>
              <a:srgbClr val="E2ED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2286000"/>
            <a:ext cx="310896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3169BE"/>
                </a:solidFill>
                <a:latin typeface="Aptos"/>
              </a:rP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697480"/>
            <a:ext cx="3017520" cy="15087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73448"/>
                </a:solidFill>
                <a:latin typeface="Aptos"/>
              </a:defRPr>
            </a:pPr>
            <a:r>
              <a:t>•  Encrypts traffic over untrusted networks</a:t>
            </a:r>
          </a:p>
          <a:p>
            <a:pPr>
              <a:spcAft>
                <a:spcPts val="900"/>
              </a:spcAft>
              <a:defRPr sz="1400">
                <a:solidFill>
                  <a:srgbClr val="273448"/>
                </a:solidFill>
                <a:latin typeface="Aptos"/>
              </a:defRPr>
            </a:pPr>
            <a:r>
              <a:t>•  Useful for remote access to internal systems</a:t>
            </a:r>
          </a:p>
          <a:p>
            <a:pPr>
              <a:spcAft>
                <a:spcPts val="900"/>
              </a:spcAft>
              <a:defRPr sz="1400">
                <a:solidFill>
                  <a:srgbClr val="273448"/>
                </a:solidFill>
                <a:latin typeface="Aptos"/>
              </a:defRPr>
            </a:pPr>
            <a:r>
              <a:t>•  Provides a familiar, central entry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480560"/>
            <a:ext cx="310896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BF4141"/>
                </a:solidFill>
                <a:latin typeface="Aptos"/>
              </a:rPr>
              <a:t>LIMIT TO REMEMBER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828032"/>
            <a:ext cx="29260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273448"/>
                </a:solidFill>
                <a:latin typeface="Aptos"/>
              </a:rPr>
              <a:t>A VPN connection alone does not prove every user, device, or request is safe.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65758B"/>
                </a:solidFill>
                <a:latin typeface="Aptos"/>
              </a:rPr>
              <a:t>CROSS-FUNCTIONAL LEARNING  /  MODULE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6575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1C9D91"/>
                </a:solidFill>
                <a:latin typeface="Aptos"/>
              </a:rPr>
              <a:t>03 / MODERN SECURITY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2744"/>
                </a:solidFill>
                <a:latin typeface="Aptos"/>
              </a:rPr>
              <a:t>What is Zero Trust?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65758B"/>
                </a:solidFill>
                <a:latin typeface="Aptos"/>
              </a:rPr>
              <a:t>Never automatically trust a request just because it comes from inside a network.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2578608"/>
            <a:ext cx="438912" cy="438912"/>
          </a:xfrm>
          <a:prstGeom prst="ellipse">
            <a:avLst/>
          </a:prstGeom>
          <a:solidFill>
            <a:srgbClr val="1C9D91"/>
          </a:solidFill>
          <a:ln>
            <a:solidFill>
              <a:srgbClr val="1C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706624"/>
            <a:ext cx="438912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218688"/>
            <a:ext cx="196596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62744"/>
                </a:solidFill>
                <a:latin typeface="Aptos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611880"/>
            <a:ext cx="19659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5758B"/>
                </a:solidFill>
                <a:latin typeface="Aptos"/>
              </a:rPr>
              <a:t>Who is requesting?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39" y="3310128"/>
            <a:ext cx="457200" cy="0"/>
          </a:xfrm>
          <a:prstGeom prst="line">
            <a:avLst/>
          </a:prstGeom>
          <a:ln w="25400">
            <a:solidFill>
              <a:srgbClr val="1C9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20439" y="233172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21607" y="2578608"/>
            <a:ext cx="438912" cy="438912"/>
          </a:xfrm>
          <a:prstGeom prst="ellipse">
            <a:avLst/>
          </a:prstGeom>
          <a:solidFill>
            <a:srgbClr val="1C9D91"/>
          </a:solidFill>
          <a:ln>
            <a:solidFill>
              <a:srgbClr val="1C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7" y="2706624"/>
            <a:ext cx="438912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7" y="3218688"/>
            <a:ext cx="196596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62744"/>
                </a:solidFill>
                <a:latin typeface="Aptos"/>
              </a:rPr>
              <a:t>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7" y="3611880"/>
            <a:ext cx="19659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5758B"/>
                </a:solidFill>
                <a:latin typeface="Aptos"/>
              </a:rPr>
              <a:t>Is it healthy and compliant?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3310128"/>
            <a:ext cx="457200" cy="0"/>
          </a:xfrm>
          <a:prstGeom prst="line">
            <a:avLst/>
          </a:prstGeom>
          <a:ln w="25400">
            <a:solidFill>
              <a:srgbClr val="1C9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233172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01968" y="2578608"/>
            <a:ext cx="438912" cy="438912"/>
          </a:xfrm>
          <a:prstGeom prst="ellipse">
            <a:avLst/>
          </a:prstGeom>
          <a:solidFill>
            <a:srgbClr val="1C9D91"/>
          </a:solidFill>
          <a:ln>
            <a:solidFill>
              <a:srgbClr val="1C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706624"/>
            <a:ext cx="438912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218688"/>
            <a:ext cx="196596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62744"/>
                </a:solidFill>
                <a:latin typeface="Aptos"/>
              </a:rPr>
              <a:t>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611880"/>
            <a:ext cx="19659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5758B"/>
                </a:solidFill>
                <a:latin typeface="Aptos"/>
              </a:rPr>
              <a:t>Where and how is access requested?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23960" y="3310128"/>
            <a:ext cx="457200" cy="0"/>
          </a:xfrm>
          <a:prstGeom prst="line">
            <a:avLst/>
          </a:prstGeom>
          <a:ln w="25400">
            <a:solidFill>
              <a:srgbClr val="1C9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81159" y="233172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82328" y="2578608"/>
            <a:ext cx="438912" cy="438912"/>
          </a:xfrm>
          <a:prstGeom prst="ellipse">
            <a:avLst/>
          </a:prstGeom>
          <a:solidFill>
            <a:srgbClr val="F17E37"/>
          </a:solidFill>
          <a:ln>
            <a:solidFill>
              <a:srgbClr val="F1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82328" y="2706624"/>
            <a:ext cx="438912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3218688"/>
            <a:ext cx="196596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62744"/>
                </a:solidFill>
                <a:latin typeface="Aptos"/>
              </a:rPr>
              <a:t>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3611880"/>
            <a:ext cx="19659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5758B"/>
                </a:solidFill>
                <a:latin typeface="Aptos"/>
              </a:rPr>
              <a:t>Allow only what is needed.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4983480"/>
            <a:ext cx="10149840" cy="685800"/>
          </a:xfrm>
          <a:prstGeom prst="roundRect">
            <a:avLst>
              <a:gd name="adj" fmla="val 12000"/>
            </a:avLst>
          </a:prstGeom>
          <a:solidFill>
            <a:srgbClr val="162744"/>
          </a:solidFill>
          <a:ln>
            <a:solidFill>
              <a:srgbClr val="16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5212080"/>
            <a:ext cx="969264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Verify explicitly  •  Use least privilege  •  Re-check when risk 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65758B"/>
                </a:solidFill>
                <a:latin typeface="Aptos"/>
              </a:rPr>
              <a:t>CROSS-FUNCTIONAL LEARNING  /  MODULE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6575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1C9D91"/>
                </a:solidFill>
                <a:latin typeface="Aptos"/>
              </a:rPr>
              <a:t>04 /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2744"/>
                </a:solidFill>
                <a:latin typeface="Aptos"/>
              </a:rPr>
              <a:t>VPN vs Zero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65758B"/>
                </a:solidFill>
                <a:latin typeface="Aptos"/>
              </a:rPr>
              <a:t>VPN is a connection technology; Zero Trust is a broader access-security approach.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166360" cy="566928"/>
          </a:xfrm>
          <a:prstGeom prst="roundRect">
            <a:avLst>
              <a:gd name="adj" fmla="val 12000"/>
            </a:avLst>
          </a:prstGeom>
          <a:solidFill>
            <a:srgbClr val="162744"/>
          </a:solidFill>
          <a:ln>
            <a:solidFill>
              <a:srgbClr val="16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29968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VPN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74519"/>
            <a:ext cx="5212080" cy="566928"/>
          </a:xfrm>
          <a:prstGeom prst="roundRect">
            <a:avLst>
              <a:gd name="adj" fmla="val 12000"/>
            </a:avLst>
          </a:prstGeom>
          <a:solidFill>
            <a:srgbClr val="162744"/>
          </a:solidFill>
          <a:ln>
            <a:solidFill>
              <a:srgbClr val="16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29968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ZERO TRUST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78608"/>
            <a:ext cx="516636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2578608"/>
            <a:ext cx="52120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88336"/>
            <a:ext cx="123444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1C9D91"/>
                </a:solidFill>
                <a:latin typeface="Aptos"/>
              </a:rPr>
              <a:t>MAIN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660903"/>
            <a:ext cx="34747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73448"/>
                </a:solidFill>
                <a:latin typeface="Aptos"/>
              </a:rPr>
              <a:t>Create a protected network connection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60903"/>
            <a:ext cx="47091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73448"/>
                </a:solidFill>
                <a:latin typeface="Aptos"/>
              </a:rPr>
              <a:t>Verify each access request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73552"/>
            <a:ext cx="516636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3273552"/>
            <a:ext cx="52120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123444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1C9D91"/>
                </a:solidFill>
                <a:latin typeface="Aptos"/>
              </a:rPr>
              <a:t>ACCESS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3355848"/>
            <a:ext cx="34747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73448"/>
                </a:solidFill>
                <a:latin typeface="Aptos"/>
              </a:rPr>
              <a:t>May provide a route into a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55848"/>
            <a:ext cx="47091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73448"/>
                </a:solidFill>
                <a:latin typeface="Aptos"/>
              </a:rPr>
              <a:t>Grant access to specific resources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68496"/>
            <a:ext cx="516636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3968496"/>
            <a:ext cx="52120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78224"/>
            <a:ext cx="123444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1C9D91"/>
                </a:solidFill>
                <a:latin typeface="Aptos"/>
              </a:rPr>
              <a:t>DECISION 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4050791"/>
            <a:ext cx="34747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73448"/>
                </a:solidFill>
                <a:latin typeface="Aptos"/>
              </a:rPr>
              <a:t>Credentials and network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50791"/>
            <a:ext cx="47091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73448"/>
                </a:solidFill>
                <a:latin typeface="Aptos"/>
              </a:rPr>
              <a:t>Identity, device, context, risk, policy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63440"/>
            <a:ext cx="516636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4663440"/>
            <a:ext cx="52120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73168"/>
            <a:ext cx="123444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1C9D91"/>
                </a:solidFill>
                <a:latin typeface="Aptos"/>
              </a:rPr>
              <a:t>SECURITY 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2848" y="4745736"/>
            <a:ext cx="34747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73448"/>
                </a:solidFill>
                <a:latin typeface="Aptos"/>
              </a:rPr>
              <a:t>Protect traffic in transit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45736"/>
            <a:ext cx="47091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73448"/>
                </a:solidFill>
                <a:latin typeface="Aptos"/>
              </a:rPr>
              <a:t>Reduce implicit trust and limit access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58383"/>
            <a:ext cx="516636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0" y="5358383"/>
            <a:ext cx="52120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468112"/>
            <a:ext cx="123444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1C9D91"/>
                </a:solidFill>
                <a:latin typeface="Aptos"/>
              </a:rPr>
              <a:t>WORK TOGETHER?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2848" y="5440679"/>
            <a:ext cx="34747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73448"/>
                </a:solidFill>
                <a:latin typeface="Aptos"/>
              </a:rPr>
              <a:t>Yes, can be part of the 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440679"/>
            <a:ext cx="47091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73448"/>
                </a:solidFill>
                <a:latin typeface="Aptos"/>
              </a:rPr>
              <a:t>Yes, can use VPN or other methods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65758B"/>
                </a:solidFill>
                <a:latin typeface="Aptos"/>
              </a:rPr>
              <a:t>CROSS-FUNCTIONAL LEARNING  /  MODULE 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6575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1C9D91"/>
                </a:solidFill>
                <a:latin typeface="Aptos"/>
              </a:rPr>
              <a:t>05 / REAL-WORLD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2744"/>
                </a:solidFill>
                <a:latin typeface="Aptos"/>
              </a:rPr>
              <a:t>Scenario: an intern accesses a company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65758B"/>
                </a:solidFill>
                <a:latin typeface="Aptos"/>
              </a:rPr>
              <a:t>The goal is the same — provide access safely — but the checks can differ.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5166360" cy="3429000"/>
          </a:xfrm>
          <a:prstGeom prst="roundRect">
            <a:avLst>
              <a:gd name="adj" fmla="val 12000"/>
            </a:avLst>
          </a:prstGeom>
          <a:solidFill>
            <a:srgbClr val="E2EDFD"/>
          </a:solidFill>
          <a:ln>
            <a:solidFill>
              <a:srgbClr val="E2ED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67712"/>
            <a:ext cx="4389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3169BE"/>
                </a:solidFill>
                <a:latin typeface="Aptos"/>
              </a:rPr>
              <a:t>VPN-CENTRIC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4343400" cy="20116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73448"/>
                </a:solidFill>
                <a:latin typeface="Aptos"/>
              </a:defRPr>
            </a:pPr>
            <a:r>
              <a:t>•  Intern connects to the company VPN.</a:t>
            </a:r>
          </a:p>
          <a:p>
            <a:pPr>
              <a:spcAft>
                <a:spcPts val="900"/>
              </a:spcAft>
              <a:defRPr sz="1400">
                <a:solidFill>
                  <a:srgbClr val="273448"/>
                </a:solidFill>
                <a:latin typeface="Aptos"/>
              </a:defRPr>
            </a:pPr>
            <a:r>
              <a:t>•  After authentication, the device can reach permitted internal network routes.</a:t>
            </a:r>
          </a:p>
          <a:p>
            <a:pPr>
              <a:spcAft>
                <a:spcPts val="900"/>
              </a:spcAft>
              <a:defRPr sz="1400">
                <a:solidFill>
                  <a:srgbClr val="273448"/>
                </a:solidFill>
                <a:latin typeface="Aptos"/>
              </a:defRPr>
            </a:pPr>
            <a:r>
              <a:t>•  Network controls still need to restrict sensitive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65960"/>
            <a:ext cx="5212080" cy="3429000"/>
          </a:xfrm>
          <a:prstGeom prst="roundRect">
            <a:avLst>
              <a:gd name="adj" fmla="val 12000"/>
            </a:avLst>
          </a:prstGeom>
          <a:solidFill>
            <a:srgbClr val="DEF6F1"/>
          </a:solidFill>
          <a:ln>
            <a:solidFill>
              <a:srgbClr val="DE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267712"/>
            <a:ext cx="4389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1C9D91"/>
                </a:solidFill>
                <a:latin typeface="Aptos"/>
              </a:rPr>
              <a:t>ZERO TRUST-ALIGNED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43200"/>
            <a:ext cx="4389120" cy="20116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73448"/>
                </a:solidFill>
                <a:latin typeface="Aptos"/>
              </a:defRPr>
            </a:pPr>
            <a:r>
              <a:t>•  Intern signs in using approved identity verification.</a:t>
            </a:r>
          </a:p>
          <a:p>
            <a:pPr>
              <a:spcAft>
                <a:spcPts val="900"/>
              </a:spcAft>
              <a:defRPr sz="1400">
                <a:solidFill>
                  <a:srgbClr val="273448"/>
                </a:solidFill>
                <a:latin typeface="Aptos"/>
              </a:defRPr>
            </a:pPr>
            <a:r>
              <a:t>•  Device health and request context are checked against policy.</a:t>
            </a:r>
          </a:p>
          <a:p>
            <a:pPr>
              <a:spcAft>
                <a:spcPts val="900"/>
              </a:spcAft>
              <a:defRPr sz="1400">
                <a:solidFill>
                  <a:srgbClr val="273448"/>
                </a:solidFill>
                <a:latin typeface="Aptos"/>
              </a:defRPr>
            </a:pPr>
            <a:r>
              <a:t>•  Access is limited to the specific app and can be re-evaluated.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56235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62744"/>
          </a:solidFill>
          <a:ln>
            <a:solidFill>
              <a:srgbClr val="16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5760720"/>
            <a:ext cx="786384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The difference is how access is evaluated and limited — not just whether a tunnel exists.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65758B"/>
                </a:solidFill>
                <a:latin typeface="Aptos"/>
              </a:rPr>
              <a:t>CROSS-FUNCTIONAL LEARNING  /  MODULE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6575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1C9D91"/>
                </a:solidFill>
                <a:latin typeface="Aptos"/>
              </a:rPr>
              <a:t>06 / BALANCED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2744"/>
                </a:solidFill>
                <a:latin typeface="Aptos"/>
              </a:rPr>
              <a:t>Benefits and implementation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65758B"/>
                </a:solidFill>
                <a:latin typeface="Aptos"/>
              </a:rPr>
              <a:t>Security improves when the design fits the organisation and is configured correctly.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516636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67712"/>
            <a:ext cx="4389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3169BE"/>
                </a:solidFill>
                <a:latin typeface="Aptos"/>
              </a:rPr>
              <a:t>VPN — CONSIDER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4389120" cy="20116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73448"/>
                </a:solidFill>
                <a:latin typeface="Aptos"/>
              </a:defRPr>
            </a:pPr>
            <a:r>
              <a:t>•  Mature option for encrypted remote connections</a:t>
            </a:r>
          </a:p>
          <a:p>
            <a:pPr>
              <a:spcAft>
                <a:spcPts val="900"/>
              </a:spcAft>
              <a:defRPr sz="1400">
                <a:solidFill>
                  <a:srgbClr val="273448"/>
                </a:solidFill>
                <a:latin typeface="Aptos"/>
              </a:defRPr>
            </a:pPr>
            <a:r>
              <a:t>•  Can be straightforward for legacy applications</a:t>
            </a:r>
          </a:p>
          <a:p>
            <a:pPr>
              <a:spcAft>
                <a:spcPts val="900"/>
              </a:spcAft>
              <a:defRPr sz="1400">
                <a:solidFill>
                  <a:srgbClr val="273448"/>
                </a:solidFill>
                <a:latin typeface="Aptos"/>
              </a:defRPr>
            </a:pPr>
            <a:r>
              <a:t>•  Needs careful routing, access controls, and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65960"/>
            <a:ext cx="521208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267712"/>
            <a:ext cx="4389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C9D91"/>
                </a:solidFill>
                <a:latin typeface="Aptos"/>
              </a:rPr>
              <a:t>ZERO TRUST — CONSIDER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43200"/>
            <a:ext cx="4389120" cy="20116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73448"/>
                </a:solidFill>
                <a:latin typeface="Aptos"/>
              </a:defRPr>
            </a:pPr>
            <a:r>
              <a:t>•  Supports fine-grained, least-privilege access</a:t>
            </a:r>
          </a:p>
          <a:p>
            <a:pPr>
              <a:spcAft>
                <a:spcPts val="900"/>
              </a:spcAft>
              <a:defRPr sz="1400">
                <a:solidFill>
                  <a:srgbClr val="273448"/>
                </a:solidFill>
                <a:latin typeface="Aptos"/>
              </a:defRPr>
            </a:pPr>
            <a:r>
              <a:t>•  Can reduce unnecessary lateral movement</a:t>
            </a:r>
          </a:p>
          <a:p>
            <a:pPr>
              <a:spcAft>
                <a:spcPts val="900"/>
              </a:spcAft>
              <a:defRPr sz="1400">
                <a:solidFill>
                  <a:srgbClr val="273448"/>
                </a:solidFill>
                <a:latin typeface="Aptos"/>
              </a:defRPr>
            </a:pPr>
            <a:r>
              <a:t>•  Requires identity, device, policy, and logging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65758B"/>
                </a:solidFill>
                <a:latin typeface="Aptos"/>
              </a:rPr>
              <a:t>CROSS-FUNCTIONAL LEARNING  /  MODULE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6575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1C9D91"/>
                </a:solidFill>
                <a:latin typeface="Aptos"/>
              </a:rPr>
              <a:t>07 / 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2744"/>
                </a:solidFill>
                <a:latin typeface="Aptos"/>
              </a:rPr>
              <a:t>A realistic path toward stronger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65758B"/>
                </a:solidFill>
                <a:latin typeface="Aptos"/>
              </a:rPr>
              <a:t>Organisations can improve access security step by step instead of replacing everything at once.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865376"/>
            <a:ext cx="411480" cy="411480"/>
          </a:xfrm>
          <a:prstGeom prst="ellipse">
            <a:avLst/>
          </a:prstGeom>
          <a:solidFill>
            <a:srgbClr val="1C9D91"/>
          </a:solidFill>
          <a:ln>
            <a:solidFill>
              <a:srgbClr val="1C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84248"/>
            <a:ext cx="411480" cy="1280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847088"/>
            <a:ext cx="237744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62744"/>
                </a:solidFill>
                <a:latin typeface="Aptos"/>
              </a:rPr>
              <a:t>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856231"/>
            <a:ext cx="6675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5758B"/>
                </a:solidFill>
                <a:latin typeface="Aptos"/>
              </a:rPr>
              <a:t>List users, devices, apps, and sensitive data.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28700" y="2276856"/>
            <a:ext cx="0" cy="320040"/>
          </a:xfrm>
          <a:prstGeom prst="line">
            <a:avLst/>
          </a:prstGeom>
          <a:ln w="25400">
            <a:solidFill>
              <a:srgbClr val="DC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22960" y="2615184"/>
            <a:ext cx="411480" cy="411480"/>
          </a:xfrm>
          <a:prstGeom prst="ellipse">
            <a:avLst/>
          </a:prstGeom>
          <a:solidFill>
            <a:srgbClr val="1C9D91"/>
          </a:solidFill>
          <a:ln>
            <a:solidFill>
              <a:srgbClr val="1C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34056"/>
            <a:ext cx="411480" cy="1280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596896"/>
            <a:ext cx="237744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62744"/>
                </a:solidFill>
                <a:latin typeface="Aptos"/>
              </a:rPr>
              <a:t>Strengthen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606039"/>
            <a:ext cx="6675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5758B"/>
                </a:solidFill>
                <a:latin typeface="Aptos"/>
              </a:rPr>
              <a:t>Use MFA and remove unused accounts.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8700" y="3026663"/>
            <a:ext cx="0" cy="320040"/>
          </a:xfrm>
          <a:prstGeom prst="line">
            <a:avLst/>
          </a:prstGeom>
          <a:ln w="25400">
            <a:solidFill>
              <a:srgbClr val="DC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22960" y="3364992"/>
            <a:ext cx="411480" cy="411480"/>
          </a:xfrm>
          <a:prstGeom prst="ellipse">
            <a:avLst/>
          </a:prstGeom>
          <a:solidFill>
            <a:srgbClr val="1C9D91"/>
          </a:solidFill>
          <a:ln>
            <a:solidFill>
              <a:srgbClr val="1C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83864"/>
            <a:ext cx="411480" cy="1280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346704"/>
            <a:ext cx="237744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62744"/>
                </a:solidFill>
                <a:latin typeface="Aptos"/>
              </a:rPr>
              <a:t>Apply least privilege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355848"/>
            <a:ext cx="6675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5758B"/>
                </a:solidFill>
                <a:latin typeface="Aptos"/>
              </a:rPr>
              <a:t>Give users only the access their role requires.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28700" y="3776472"/>
            <a:ext cx="0" cy="320040"/>
          </a:xfrm>
          <a:prstGeom prst="line">
            <a:avLst/>
          </a:prstGeom>
          <a:ln w="25400">
            <a:solidFill>
              <a:srgbClr val="DC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" y="4114800"/>
            <a:ext cx="411480" cy="411480"/>
          </a:xfrm>
          <a:prstGeom prst="ellipse">
            <a:avLst/>
          </a:prstGeom>
          <a:solidFill>
            <a:srgbClr val="F17E37"/>
          </a:solidFill>
          <a:ln>
            <a:solidFill>
              <a:srgbClr val="F1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33672"/>
            <a:ext cx="411480" cy="1280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96512"/>
            <a:ext cx="237744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62744"/>
                </a:solidFill>
                <a:latin typeface="Aptos"/>
              </a:rPr>
              <a:t>Check devices and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4105656"/>
            <a:ext cx="6675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5758B"/>
                </a:solidFill>
                <a:latin typeface="Aptos"/>
              </a:rPr>
              <a:t>Use device posture and risk signals where possible.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8700" y="4526280"/>
            <a:ext cx="0" cy="320040"/>
          </a:xfrm>
          <a:prstGeom prst="line">
            <a:avLst/>
          </a:prstGeom>
          <a:ln w="25400">
            <a:solidFill>
              <a:srgbClr val="DC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22960" y="4864607"/>
            <a:ext cx="411480" cy="411480"/>
          </a:xfrm>
          <a:prstGeom prst="ellipse">
            <a:avLst/>
          </a:prstGeom>
          <a:solidFill>
            <a:srgbClr val="F17E37"/>
          </a:solidFill>
          <a:ln>
            <a:solidFill>
              <a:srgbClr val="F1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983480"/>
            <a:ext cx="411480" cy="1280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846320"/>
            <a:ext cx="237744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62744"/>
                </a:solidFill>
                <a:latin typeface="Aptos"/>
              </a:rPr>
              <a:t>Monitor and improve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855464"/>
            <a:ext cx="6675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5758B"/>
                </a:solidFill>
                <a:latin typeface="Aptos"/>
              </a:rPr>
              <a:t>Review logs, alerts, and access policies regularly.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65758B"/>
                </a:solidFill>
                <a:latin typeface="Aptos"/>
              </a:rPr>
              <a:t>CROSS-FUNCTIONAL LEARNING  /  MODULE 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6575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59436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89DED4"/>
                </a:solidFill>
                <a:latin typeface="Aptos"/>
              </a:rPr>
              <a:t>MODULE 03  / 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8046720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Use the right model
for the right risk.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743200"/>
            <a:ext cx="1691640" cy="475488"/>
          </a:xfrm>
          <a:prstGeom prst="roundRect">
            <a:avLst>
              <a:gd name="adj" fmla="val 12000"/>
            </a:avLst>
          </a:prstGeom>
          <a:solidFill>
            <a:srgbClr val="1C9D91"/>
          </a:solidFill>
          <a:ln>
            <a:solidFill>
              <a:srgbClr val="1C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889504"/>
            <a:ext cx="1444752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VPN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807208"/>
            <a:ext cx="7772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DFE8F4"/>
                </a:solidFill>
                <a:latin typeface="Aptos"/>
              </a:rPr>
              <a:t>Protects the connection between a device and a network.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47872"/>
            <a:ext cx="1691640" cy="475488"/>
          </a:xfrm>
          <a:prstGeom prst="roundRect">
            <a:avLst>
              <a:gd name="adj" fmla="val 12000"/>
            </a:avLst>
          </a:prstGeom>
          <a:solidFill>
            <a:srgbClr val="F17E37"/>
          </a:solidFill>
          <a:ln>
            <a:solidFill>
              <a:srgbClr val="F1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694176"/>
            <a:ext cx="1444752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ZERO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611879"/>
            <a:ext cx="7772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DFE8F4"/>
                </a:solidFill>
                <a:latin typeface="Aptos"/>
              </a:rPr>
              <a:t>Makes access decisions using identity, device, context, and policy.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2544"/>
            <a:ext cx="1691640" cy="475488"/>
          </a:xfrm>
          <a:prstGeom prst="roundRect">
            <a:avLst>
              <a:gd name="adj" fmla="val 12000"/>
            </a:avLst>
          </a:prstGeom>
          <a:solidFill>
            <a:srgbClr val="1C9D91"/>
          </a:solidFill>
          <a:ln>
            <a:solidFill>
              <a:srgbClr val="1C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498848"/>
            <a:ext cx="1444752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416552"/>
            <a:ext cx="7772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DFE8F4"/>
                </a:solidFill>
                <a:latin typeface="Aptos"/>
              </a:rPr>
              <a:t>A VPN can be one component in a Zero Trust-aligned design.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5440680"/>
            <a:ext cx="10195560" cy="0"/>
          </a:xfrm>
          <a:prstGeom prst="line">
            <a:avLst/>
          </a:prstGeom>
          <a:ln w="12700">
            <a:solidFill>
              <a:srgbClr val="415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571500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571500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800" b="1">
                <a:solidFill>
                  <a:srgbClr val="89DED4"/>
                </a:solidFill>
                <a:latin typeface="Aptos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65758B"/>
                </a:solidFill>
                <a:latin typeface="Aptos"/>
              </a:rPr>
              <a:t>CROSS-FUNCTIONAL LEARNING  /  MODULE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6575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